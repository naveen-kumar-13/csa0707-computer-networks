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Lst>
  <p:notesMasterIdLst>
    <p:notesMasterId r:id="rId9"/>
  </p:notesMasterIdLst>
  <p:sldIdLst>
    <p:sldId id="261" r:id="rId2"/>
    <p:sldId id="256" r:id="rId3"/>
    <p:sldId id="258" r:id="rId4"/>
    <p:sldId id="259" r:id="rId5"/>
    <p:sldId id="260" r:id="rId6"/>
    <p:sldId id="265" r:id="rId7"/>
    <p:sldId id="266" r:id="rId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83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7248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introduces Network Function Virtualization (NFV): software-based network functions running on standard servers instead of dedicated hardware. Traditional networks relied on purpose-built appliances — routers, firewalls, load balancers — that were costly, inflexible, and slow to upgrade, leading to vendor lock-in. NFV, standardized by ETSI beginning in 2012, addresses this by decoupling network functions from hardware. Today we will cover the NFV architecture and its relationship to the OSI model, current industry deployments, and the benefits, challenges, and research directions ahead.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NFV is deployed across eight major domains today: 5G core networks — where control and user plane functions run as cloud-native network functions; cloud data centers; SD-WAN for branch connectivity; virtual firewalls, routers, and load balancers; edge computing for low-latency services; and network security functions such as virtualized intrusion detection. Leading organizations have built commercial platforms around these use cases: Cisco and Nokia offer enterprise and telco NFV platforms; Ericsson focuses on cloud-native 5G core; AWS, Azure, and Google Cloud provide the elastic infrastructure and Kubernetes-based orchestration; and VMware and Red Hat supply the virtualization and container platforms that host VNFs and CNFs in production telco networks.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NFV delivers clear benefits: scalability, flexibility, reduced capital and operating expenditure, faster service deployment, automation, and better resource optimization. These come with real challenges — security exposure at the hypervisor and orchestration layers, performance overhead relative to dedicated hardware, multi-vendor interoperability, the complexity of service function chaining and orchestration, and reliability guarantees comparable to purpose-built appliances. Current research is addressing these through AI-driven orchestration, the shift toward cloud-native network functions on Kubernetes, preparation for 6G, zero-touch network management, and digital twin networks for predictive operations.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NFV re-implements the functions traditionally distributed across the OSI model — from application-layer services down to the physical layer — as software running on standard infrastructure. It is now foundational to cloud computing, 5G core networks, and edge computing, and will remain central as networks evolve toward 6G. Combined with AI-driven orchestration, cloud-native network functions, and zero-touch management, NFV represents a key step toward autonomous, self-optimizing networks. Thank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BF80-BA15-4B06-9D36-9F0084868B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A75491-496D-52C4-7A5F-C8FE938D1B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E667E75-62E2-9937-4FD7-430883579628}"/>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5" name="Footer Placeholder 4">
            <a:extLst>
              <a:ext uri="{FF2B5EF4-FFF2-40B4-BE49-F238E27FC236}">
                <a16:creationId xmlns:a16="http://schemas.microsoft.com/office/drawing/2014/main" id="{9F97FECA-D2FF-C9AD-58F7-5F926C2601AF}"/>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F31984B3-E40D-6AE5-2CE3-A6B301026420}"/>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15784901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939DA-B6B2-1B2E-9CE6-A4FE5ED9E6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4460F3-BE60-3782-1A72-90296C9FDC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B7FF8E-C566-71CC-DF3E-B3A2834803F3}"/>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5" name="Footer Placeholder 4">
            <a:extLst>
              <a:ext uri="{FF2B5EF4-FFF2-40B4-BE49-F238E27FC236}">
                <a16:creationId xmlns:a16="http://schemas.microsoft.com/office/drawing/2014/main" id="{8118B102-3135-5C38-691A-BC61B9EFF07D}"/>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6D45178D-7452-08EE-EB04-1E340C23369A}"/>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29327206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7176-B335-7674-10E2-1772139F8A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30B87B-ED88-CF2A-4919-C49F147ACC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043199-E79A-254E-E662-B163DD005BB7}"/>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5" name="Footer Placeholder 4">
            <a:extLst>
              <a:ext uri="{FF2B5EF4-FFF2-40B4-BE49-F238E27FC236}">
                <a16:creationId xmlns:a16="http://schemas.microsoft.com/office/drawing/2014/main" id="{1A8750EC-B8BA-F726-C07C-69F47F28B9C1}"/>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15013A5D-8EEC-88CE-ED63-EC928DAB801E}"/>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0059560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7A38-1DCA-383E-A188-F49E9BF392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F0808F-91F0-DA2E-0BAD-CBA32F2FB8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9D2557-1C43-83BC-6362-460CE59D0A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64AD47-6FD4-CD67-EA08-5961653EF06D}"/>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6" name="Footer Placeholder 5">
            <a:extLst>
              <a:ext uri="{FF2B5EF4-FFF2-40B4-BE49-F238E27FC236}">
                <a16:creationId xmlns:a16="http://schemas.microsoft.com/office/drawing/2014/main" id="{D233BA3A-C567-3FDF-EAC3-E8725B0D445C}"/>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C94D5655-23EC-2370-A246-CFB8329BC123}"/>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30249161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8650-7A09-372A-AB69-E7927AC046C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CC4191-1D44-0E3A-0305-5802206FFB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A327B7-8460-0DCC-527B-23211C7741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5E6721-EF6D-2FC7-3BF9-80596F216E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1E1C2B-5E68-0B8B-DD93-D89BE32480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683CE2-D3B0-2FC6-0A96-10CE4B718FB8}"/>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8" name="Footer Placeholder 7">
            <a:extLst>
              <a:ext uri="{FF2B5EF4-FFF2-40B4-BE49-F238E27FC236}">
                <a16:creationId xmlns:a16="http://schemas.microsoft.com/office/drawing/2014/main" id="{B8A0A4DE-1FB7-CA13-A6C9-DE648BBA69BA}"/>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E7DCA75-B6F0-F316-0548-07ACBCA50088}"/>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57655666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869E4-C716-7C5A-B902-86E45F4B032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3A5584E-FBF3-ED6A-8853-827694656642}"/>
              </a:ext>
            </a:extLst>
          </p:cNvPr>
          <p:cNvSpPr>
            <a:spLocks noGrp="1"/>
          </p:cNvSpPr>
          <p:nvPr>
            <p:ph type="dt" sz="half" idx="10"/>
          </p:nvPr>
        </p:nvSpPr>
        <p:spPr/>
        <p:txBody>
          <a:bodyPr/>
          <a:lstStyle/>
          <a:p>
            <a:fld id="{16C42483-B3E3-4399-B6B2-4B1D067F8CE5}" type="datetime1">
              <a:rPr lang="en-US" smtClean="0"/>
              <a:t>7/30/2026</a:t>
            </a:fld>
            <a:endParaRPr lang="en-US"/>
          </a:p>
        </p:txBody>
      </p:sp>
      <p:sp>
        <p:nvSpPr>
          <p:cNvPr id="4" name="Footer Placeholder 3">
            <a:extLst>
              <a:ext uri="{FF2B5EF4-FFF2-40B4-BE49-F238E27FC236}">
                <a16:creationId xmlns:a16="http://schemas.microsoft.com/office/drawing/2014/main" id="{A7531D77-093D-EF05-D0DB-B5B7ACB5B00A}"/>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FE2D0559-DAD2-7630-2E92-E3B84BC237C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05850947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ADC26C-26E2-78FF-5ED8-519883089DFF}"/>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3" name="Footer Placeholder 2">
            <a:extLst>
              <a:ext uri="{FF2B5EF4-FFF2-40B4-BE49-F238E27FC236}">
                <a16:creationId xmlns:a16="http://schemas.microsoft.com/office/drawing/2014/main" id="{414B7CF8-EFDB-829E-C47E-766B65DC6C9C}"/>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54630BB7-CDA2-A20B-A882-67DA093AACBC}"/>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71288346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CC214-61F0-2630-6E18-D667CA8D71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37B675-4B06-29A1-E905-ABB49A78F1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078AFCE-377C-0BF6-FB9E-7E8603786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7E7CDB-D17F-924D-449C-4B596E3562FE}"/>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6" name="Footer Placeholder 5">
            <a:extLst>
              <a:ext uri="{FF2B5EF4-FFF2-40B4-BE49-F238E27FC236}">
                <a16:creationId xmlns:a16="http://schemas.microsoft.com/office/drawing/2014/main" id="{483E3392-426B-72AF-D94F-717EC1E4A95E}"/>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C92D4DE-DE8D-5A19-8633-8F7C3CA0B498}"/>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51665525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7CACB-18E2-B843-A979-E2BAC1EA09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48059F8-C898-951E-25AA-0D59A5EAB5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750342-EF25-A646-4060-CE2DF7BC9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C4C632-04B7-11AA-938D-B557F1B64C70}"/>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6" name="Footer Placeholder 5">
            <a:extLst>
              <a:ext uri="{FF2B5EF4-FFF2-40B4-BE49-F238E27FC236}">
                <a16:creationId xmlns:a16="http://schemas.microsoft.com/office/drawing/2014/main" id="{1C44D777-304C-35B9-BAB5-FF5D92461A67}"/>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CD66B429-0EE0-80F9-C5C8-38F90EF20232}"/>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56156723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00DEE-5859-2D37-3151-D4311C0A79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24302B-FD21-A626-300D-80DEA5DFF8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CF63D9-48AE-CAC9-D176-EB2795D3D96B}"/>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5" name="Footer Placeholder 4">
            <a:extLst>
              <a:ext uri="{FF2B5EF4-FFF2-40B4-BE49-F238E27FC236}">
                <a16:creationId xmlns:a16="http://schemas.microsoft.com/office/drawing/2014/main" id="{4342D6AA-F95D-761F-4F41-7CF0D55EB258}"/>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7510BA41-0ECA-BAD2-871D-AB411739FCE9}"/>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2080334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101129-5A93-F4D7-69E3-3629B5C4C6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1DC1A2-C28B-2512-8E50-833C553563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775EED-2971-45CC-F280-8A49CDCE13EF}"/>
              </a:ext>
            </a:extLst>
          </p:cNvPr>
          <p:cNvSpPr>
            <a:spLocks noGrp="1"/>
          </p:cNvSpPr>
          <p:nvPr>
            <p:ph type="dt" sz="half" idx="10"/>
          </p:nvPr>
        </p:nvSpPr>
        <p:spPr/>
        <p:txBody>
          <a:bodyPr/>
          <a:lstStyle/>
          <a:p>
            <a:fld id="{7DA2CEDE-2AB4-4FB8-9551-E0AA4222B1A3}" type="datetime1">
              <a:rPr lang="en-US" smtClean="0"/>
              <a:pPr/>
              <a:t>7/30/2026</a:t>
            </a:fld>
            <a:endParaRPr lang="en-US" dirty="0"/>
          </a:p>
        </p:txBody>
      </p:sp>
      <p:sp>
        <p:nvSpPr>
          <p:cNvPr id="5" name="Footer Placeholder 4">
            <a:extLst>
              <a:ext uri="{FF2B5EF4-FFF2-40B4-BE49-F238E27FC236}">
                <a16:creationId xmlns:a16="http://schemas.microsoft.com/office/drawing/2014/main" id="{BFB2C297-1DF9-703F-3F60-BA9BD90218B8}"/>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BF08CA2F-25F5-EE5B-AF7C-F062FAAB6B61}"/>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2342501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313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E39C88-CEF3-51C9-B080-13E90EEE08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2C2EE9-48DA-5FBA-26DC-F038C72A0E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C75F62-AE80-D82E-9EDE-24DDCBF771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A2CEDE-2AB4-4FB8-9551-E0AA4222B1A3}" type="datetime1">
              <a:rPr lang="en-US" smtClean="0"/>
              <a:pPr/>
              <a:t>7/30/2026</a:t>
            </a:fld>
            <a:endParaRPr lang="en-US" dirty="0"/>
          </a:p>
        </p:txBody>
      </p:sp>
      <p:sp>
        <p:nvSpPr>
          <p:cNvPr id="5" name="Footer Placeholder 4">
            <a:extLst>
              <a:ext uri="{FF2B5EF4-FFF2-40B4-BE49-F238E27FC236}">
                <a16:creationId xmlns:a16="http://schemas.microsoft.com/office/drawing/2014/main" id="{E8571E31-E841-C48D-E057-B3E0E0A32F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FB2323D-85E8-7799-1829-E9B0688DE6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7087741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A344A0E-B40C-8C97-6A0C-D0F44AE231B3}"/>
              </a:ext>
            </a:extLst>
          </p:cNvPr>
          <p:cNvSpPr/>
          <p:nvPr/>
        </p:nvSpPr>
        <p:spPr>
          <a:xfrm>
            <a:off x="0" y="1371600"/>
            <a:ext cx="12192000" cy="5486400"/>
          </a:xfrm>
          <a:prstGeom prst="rect">
            <a:avLst/>
          </a:prstGeom>
          <a:solidFill>
            <a:schemeClr val="accent1">
              <a:lumMod val="50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2">
                  <a:lumMod val="75000"/>
                </a:schemeClr>
              </a:solidFill>
              <a:highlight>
                <a:srgbClr val="000080"/>
              </a:highlight>
            </a:endParaRPr>
          </a:p>
        </p:txBody>
      </p:sp>
      <p:pic>
        <p:nvPicPr>
          <p:cNvPr id="7" name="Google Shape;55;p13">
            <a:extLst>
              <a:ext uri="{FF2B5EF4-FFF2-40B4-BE49-F238E27FC236}">
                <a16:creationId xmlns:a16="http://schemas.microsoft.com/office/drawing/2014/main" id="{3B58ED8D-14FF-D6B2-7E5B-265132FBF656}"/>
              </a:ext>
            </a:extLst>
          </p:cNvPr>
          <p:cNvPicPr preferRelativeResize="0"/>
          <p:nvPr/>
        </p:nvPicPr>
        <p:blipFill>
          <a:blip r:embed="rId2">
            <a:alphaModFix/>
          </a:blip>
          <a:stretch>
            <a:fillRect/>
          </a:stretch>
        </p:blipFill>
        <p:spPr>
          <a:xfrm>
            <a:off x="0" y="0"/>
            <a:ext cx="12034684" cy="1314541"/>
          </a:xfrm>
          <a:prstGeom prst="rect">
            <a:avLst/>
          </a:prstGeom>
          <a:noFill/>
          <a:ln>
            <a:noFill/>
          </a:ln>
        </p:spPr>
      </p:pic>
      <p:sp>
        <p:nvSpPr>
          <p:cNvPr id="8" name="TextBox 7">
            <a:extLst>
              <a:ext uri="{FF2B5EF4-FFF2-40B4-BE49-F238E27FC236}">
                <a16:creationId xmlns:a16="http://schemas.microsoft.com/office/drawing/2014/main" id="{04A7643B-B063-3DB2-4033-CB0ED1DBD650}"/>
              </a:ext>
            </a:extLst>
          </p:cNvPr>
          <p:cNvSpPr txBox="1"/>
          <p:nvPr/>
        </p:nvSpPr>
        <p:spPr>
          <a:xfrm>
            <a:off x="2145890" y="1549623"/>
            <a:ext cx="7742903" cy="1384995"/>
          </a:xfrm>
          <a:prstGeom prst="rect">
            <a:avLst/>
          </a:prstGeom>
          <a:noFill/>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CSA0707-COMPUTER NETWORKS</a:t>
            </a:r>
          </a:p>
          <a:p>
            <a:pPr algn="ctr"/>
            <a:r>
              <a:rPr lang="en-US" sz="2800" b="1" dirty="0">
                <a:solidFill>
                  <a:schemeClr val="bg1"/>
                </a:solidFill>
                <a:latin typeface="Times New Roman" panose="02020603050405020304" pitchFamily="18" charset="0"/>
                <a:cs typeface="Times New Roman" panose="02020603050405020304" pitchFamily="18" charset="0"/>
              </a:rPr>
              <a:t>(CO1 ASSESSMENT TOOL -3)</a:t>
            </a:r>
          </a:p>
          <a:p>
            <a:pPr algn="ctr"/>
            <a:r>
              <a:rPr lang="en-US" sz="2800" b="1" dirty="0">
                <a:solidFill>
                  <a:schemeClr val="bg1"/>
                </a:solidFill>
                <a:latin typeface="Times New Roman" panose="02020603050405020304" pitchFamily="18" charset="0"/>
                <a:cs typeface="Times New Roman" panose="02020603050405020304" pitchFamily="18" charset="0"/>
              </a:rPr>
              <a:t>TECHNICAL PRESENTATION</a:t>
            </a:r>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2DCCB33-F202-B86D-2EEF-2A68F5F8D58F}"/>
              </a:ext>
            </a:extLst>
          </p:cNvPr>
          <p:cNvSpPr txBox="1"/>
          <p:nvPr/>
        </p:nvSpPr>
        <p:spPr>
          <a:xfrm>
            <a:off x="471948" y="4866968"/>
            <a:ext cx="3392129" cy="1015663"/>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Presented By:</a:t>
            </a:r>
          </a:p>
          <a:p>
            <a:br>
              <a:rPr lang="en-US" sz="2000" dirty="0">
                <a:solidFill>
                  <a:schemeClr val="bg1"/>
                </a:solidFill>
                <a:latin typeface="Times New Roman" panose="02020603050405020304" pitchFamily="18" charset="0"/>
                <a:cs typeface="Times New Roman" panose="02020603050405020304" pitchFamily="18" charset="0"/>
              </a:rPr>
            </a:br>
            <a:r>
              <a:rPr lang="en-US" sz="2000" dirty="0">
                <a:solidFill>
                  <a:schemeClr val="bg1"/>
                </a:solidFill>
                <a:latin typeface="Times New Roman" panose="02020603050405020304" pitchFamily="18" charset="0"/>
                <a:cs typeface="Times New Roman" panose="02020603050405020304" pitchFamily="18" charset="0"/>
              </a:rPr>
              <a:t>D. Naveen Kumar(192511401)</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6309CFA-CC95-111E-34C3-9552572262C3}"/>
              </a:ext>
            </a:extLst>
          </p:cNvPr>
          <p:cNvSpPr txBox="1"/>
          <p:nvPr/>
        </p:nvSpPr>
        <p:spPr>
          <a:xfrm>
            <a:off x="7949380" y="4866967"/>
            <a:ext cx="3097161" cy="1015663"/>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Guided By:</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cs typeface="Times New Roman" panose="02020603050405020304" pitchFamily="18" charset="0"/>
              </a:rPr>
              <a:t>Dr R . Shankar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12" name="Text 1">
            <a:extLst>
              <a:ext uri="{FF2B5EF4-FFF2-40B4-BE49-F238E27FC236}">
                <a16:creationId xmlns:a16="http://schemas.microsoft.com/office/drawing/2014/main" id="{374E1F64-4A82-E50F-0BB3-7091145EA1FB}"/>
              </a:ext>
            </a:extLst>
          </p:cNvPr>
          <p:cNvSpPr/>
          <p:nvPr/>
        </p:nvSpPr>
        <p:spPr>
          <a:xfrm>
            <a:off x="722671" y="3246890"/>
            <a:ext cx="11769213" cy="1188720"/>
          </a:xfrm>
          <a:prstGeom prst="rect">
            <a:avLst/>
          </a:prstGeom>
          <a:noFill/>
          <a:ln/>
        </p:spPr>
        <p:txBody>
          <a:bodyPr wrap="square" lIns="0" tIns="0" rIns="0" bIns="0" rtlCol="0" anchor="ctr"/>
          <a:lstStyle/>
          <a:p>
            <a:pPr marL="0" indent="0">
              <a:lnSpc>
                <a:spcPct val="108000"/>
              </a:lnSpc>
              <a:buNone/>
            </a:pPr>
            <a:r>
              <a:rPr lang="en-US" sz="3200" b="1" dirty="0">
                <a:solidFill>
                  <a:schemeClr val="bg1"/>
                </a:solidFill>
                <a:latin typeface="Times New Roman" panose="02020603050405020304" pitchFamily="18" charset="0"/>
                <a:ea typeface="Calibri" pitchFamily="34" charset="-122"/>
                <a:cs typeface="Times New Roman" panose="02020603050405020304" pitchFamily="18" charset="0"/>
              </a:rPr>
              <a:t>NETWORK FUNCTION VIRTUALIZATION (NFV)</a:t>
            </a:r>
            <a:r>
              <a:rPr lang="en-US" sz="3200" b="1" dirty="0">
                <a:solidFill>
                  <a:schemeClr val="bg1"/>
                </a:solidFill>
                <a:latin typeface="Times New Roman" panose="02020603050405020304" pitchFamily="18" charset="0"/>
                <a:cs typeface="Times New Roman" panose="02020603050405020304" pitchFamily="18" charset="0"/>
              </a:rPr>
              <a:t> </a:t>
            </a:r>
            <a:r>
              <a:rPr lang="en-US" sz="3200" b="1" dirty="0">
                <a:solidFill>
                  <a:schemeClr val="bg1"/>
                </a:solidFill>
                <a:latin typeface="Times New Roman" panose="02020603050405020304" pitchFamily="18" charset="0"/>
                <a:ea typeface="Calibri" pitchFamily="34" charset="-122"/>
                <a:cs typeface="Times New Roman" panose="02020603050405020304" pitchFamily="18" charset="0"/>
              </a:rPr>
              <a:t>AND</a:t>
            </a:r>
          </a:p>
          <a:p>
            <a:pPr marL="0" indent="0" algn="ctr">
              <a:lnSpc>
                <a:spcPct val="108000"/>
              </a:lnSpc>
              <a:buNone/>
            </a:pPr>
            <a:r>
              <a:rPr lang="en-US" sz="3200" b="1" dirty="0">
                <a:solidFill>
                  <a:schemeClr val="bg1"/>
                </a:solidFill>
                <a:latin typeface="Times New Roman" panose="02020603050405020304" pitchFamily="18" charset="0"/>
                <a:ea typeface="Calibri" pitchFamily="34" charset="-122"/>
                <a:cs typeface="Times New Roman" panose="02020603050405020304" pitchFamily="18" charset="0"/>
              </a:rPr>
              <a:t> THE OSI ARCHITECTURE</a:t>
            </a:r>
            <a:endParaRPr lang="en-US" sz="3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1969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603504" y="1746504"/>
            <a:ext cx="5212080" cy="320040"/>
          </a:xfrm>
          <a:prstGeom prst="rect">
            <a:avLst/>
          </a:prstGeom>
          <a:noFill/>
          <a:ln/>
        </p:spPr>
        <p:txBody>
          <a:bodyPr wrap="square" lIns="0" tIns="0" rIns="0" bIns="0" rtlCol="0" anchor="ctr"/>
          <a:lstStyle/>
          <a:p>
            <a:pPr marL="0" indent="0">
              <a:buNone/>
            </a:pPr>
            <a:r>
              <a:rPr lang="en-US" sz="2000" b="1" dirty="0">
                <a:solidFill>
                  <a:srgbClr val="1E2761"/>
                </a:solidFill>
                <a:latin typeface="Times New Roman" panose="02020603050405020304" pitchFamily="18" charset="0"/>
                <a:ea typeface="Calibri" pitchFamily="34" charset="-122"/>
                <a:cs typeface="Times New Roman" panose="02020603050405020304" pitchFamily="18" charset="0"/>
              </a:rPr>
              <a:t>What is NFV?</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576072" y="2624328"/>
            <a:ext cx="5212080" cy="685800"/>
          </a:xfrm>
          <a:prstGeom prst="rect">
            <a:avLst/>
          </a:prstGeom>
          <a:noFill/>
          <a:ln/>
        </p:spPr>
        <p:txBody>
          <a:bodyPr wrap="square" lIns="0" tIns="0" rIns="0" bIns="0" rtlCol="0" anchor="ctr"/>
          <a:lstStyle/>
          <a:p>
            <a:pPr marL="0" indent="0">
              <a:lnSpc>
                <a:spcPct val="112000"/>
              </a:lnSpc>
              <a:buNone/>
            </a:pPr>
            <a:r>
              <a:rPr lang="en-US" dirty="0">
                <a:solidFill>
                  <a:srgbClr val="1A1A1A"/>
                </a:solidFill>
                <a:latin typeface="Times New Roman" panose="02020603050405020304" pitchFamily="18" charset="0"/>
                <a:ea typeface="Calibri" pitchFamily="34" charset="-122"/>
                <a:cs typeface="Times New Roman" panose="02020603050405020304" pitchFamily="18" charset="0"/>
              </a:rPr>
              <a:t>NFV replaces purpose-built network appliances with software-based network functions (VNFs) running on standard, virtualized commercial off-the-shelf (COTS) servers.</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548640" y="3794760"/>
            <a:ext cx="5212080" cy="320040"/>
          </a:xfrm>
          <a:prstGeom prst="rect">
            <a:avLst/>
          </a:prstGeom>
          <a:noFill/>
          <a:ln/>
        </p:spPr>
        <p:txBody>
          <a:bodyPr wrap="square" lIns="0" tIns="0" rIns="0" bIns="0"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Why NFV Was Introduced</a:t>
            </a:r>
            <a:endParaRPr lang="en-US" sz="1500" dirty="0">
              <a:latin typeface="Times New Roman" panose="02020603050405020304" pitchFamily="18" charset="0"/>
              <a:cs typeface="Times New Roman" panose="02020603050405020304" pitchFamily="18" charset="0"/>
            </a:endParaRPr>
          </a:p>
        </p:txBody>
      </p:sp>
      <p:sp>
        <p:nvSpPr>
          <p:cNvPr id="8" name="Shape 6"/>
          <p:cNvSpPr/>
          <p:nvPr/>
        </p:nvSpPr>
        <p:spPr>
          <a:xfrm>
            <a:off x="491417" y="4331011"/>
            <a:ext cx="54864" cy="54864"/>
          </a:xfrm>
          <a:prstGeom prst="ellipse">
            <a:avLst/>
          </a:prstGeom>
          <a:solidFill>
            <a:srgbClr val="1E2761"/>
          </a:solidFill>
          <a:ln/>
        </p:spPr>
      </p:sp>
      <p:sp>
        <p:nvSpPr>
          <p:cNvPr id="9" name="Text 7"/>
          <p:cNvSpPr/>
          <p:nvPr/>
        </p:nvSpPr>
        <p:spPr>
          <a:xfrm>
            <a:off x="649224" y="4316558"/>
            <a:ext cx="5010912" cy="457200"/>
          </a:xfrm>
          <a:prstGeom prst="rect">
            <a:avLst/>
          </a:prstGeom>
          <a:noFill/>
          <a:ln/>
        </p:spPr>
        <p:txBody>
          <a:bodyPr wrap="square" lIns="0" tIns="0" rIns="0" bIns="0" rtlCol="0" anchor="ctr"/>
          <a:lstStyle/>
          <a:p>
            <a:pPr marL="0" indent="0">
              <a:lnSpc>
                <a:spcPct val="110000"/>
              </a:lnSpc>
              <a:buNone/>
            </a:pPr>
            <a:r>
              <a:rPr lang="en-US" dirty="0">
                <a:solidFill>
                  <a:srgbClr val="1A1A1A"/>
                </a:solidFill>
                <a:latin typeface="Times New Roman" panose="02020603050405020304" pitchFamily="18" charset="0"/>
                <a:ea typeface="Calibri" pitchFamily="34" charset="-122"/>
                <a:cs typeface="Times New Roman" panose="02020603050405020304" pitchFamily="18" charset="0"/>
              </a:rPr>
              <a:t>Fixed-function hardware caused vendor lock-in and slow feature rollout</a:t>
            </a:r>
            <a:endParaRPr lang="en-US" dirty="0">
              <a:latin typeface="Times New Roman" panose="02020603050405020304" pitchFamily="18" charset="0"/>
              <a:cs typeface="Times New Roman" panose="02020603050405020304" pitchFamily="18" charset="0"/>
            </a:endParaRPr>
          </a:p>
        </p:txBody>
      </p:sp>
      <p:sp>
        <p:nvSpPr>
          <p:cNvPr id="10" name="Shape 8"/>
          <p:cNvSpPr/>
          <p:nvPr/>
        </p:nvSpPr>
        <p:spPr>
          <a:xfrm>
            <a:off x="491417" y="5212080"/>
            <a:ext cx="54864" cy="54864"/>
          </a:xfrm>
          <a:prstGeom prst="ellipse">
            <a:avLst/>
          </a:prstGeom>
          <a:solidFill>
            <a:srgbClr val="1E2761"/>
          </a:solidFill>
          <a:ln/>
        </p:spPr>
      </p:sp>
      <p:sp>
        <p:nvSpPr>
          <p:cNvPr id="11" name="Text 9"/>
          <p:cNvSpPr/>
          <p:nvPr/>
        </p:nvSpPr>
        <p:spPr>
          <a:xfrm>
            <a:off x="676656" y="5159281"/>
            <a:ext cx="5010912" cy="457200"/>
          </a:xfrm>
          <a:prstGeom prst="rect">
            <a:avLst/>
          </a:prstGeom>
          <a:noFill/>
          <a:ln/>
        </p:spPr>
        <p:txBody>
          <a:bodyPr wrap="square" lIns="0" tIns="0" rIns="0" bIns="0" rtlCol="0" anchor="ctr"/>
          <a:lstStyle/>
          <a:p>
            <a:pPr marL="0" indent="0">
              <a:lnSpc>
                <a:spcPct val="110000"/>
              </a:lnSpc>
              <a:buNone/>
            </a:pPr>
            <a:r>
              <a:rPr lang="en-US" dirty="0">
                <a:solidFill>
                  <a:srgbClr val="1A1A1A"/>
                </a:solidFill>
                <a:latin typeface="Times New Roman" panose="02020603050405020304" pitchFamily="18" charset="0"/>
                <a:ea typeface="Calibri" pitchFamily="34" charset="-122"/>
                <a:cs typeface="Times New Roman" panose="02020603050405020304" pitchFamily="18" charset="0"/>
              </a:rPr>
              <a:t>High CAPEX/OPEX for dedicated routers, firewalls, and load balancers</a:t>
            </a:r>
            <a:endParaRPr lang="en-US" dirty="0">
              <a:latin typeface="Times New Roman" panose="02020603050405020304" pitchFamily="18" charset="0"/>
              <a:cs typeface="Times New Roman" panose="02020603050405020304" pitchFamily="18" charset="0"/>
            </a:endParaRPr>
          </a:p>
        </p:txBody>
      </p:sp>
      <p:sp>
        <p:nvSpPr>
          <p:cNvPr id="12" name="Shape 10"/>
          <p:cNvSpPr/>
          <p:nvPr/>
        </p:nvSpPr>
        <p:spPr>
          <a:xfrm>
            <a:off x="548640" y="6148308"/>
            <a:ext cx="54864" cy="54864"/>
          </a:xfrm>
          <a:prstGeom prst="ellipse">
            <a:avLst/>
          </a:prstGeom>
          <a:solidFill>
            <a:srgbClr val="1E2761"/>
          </a:solidFill>
          <a:ln/>
        </p:spPr>
      </p:sp>
      <p:sp>
        <p:nvSpPr>
          <p:cNvPr id="13" name="Text 11"/>
          <p:cNvSpPr/>
          <p:nvPr/>
        </p:nvSpPr>
        <p:spPr>
          <a:xfrm>
            <a:off x="749808" y="5947140"/>
            <a:ext cx="5010912" cy="457200"/>
          </a:xfrm>
          <a:prstGeom prst="rect">
            <a:avLst/>
          </a:prstGeom>
          <a:noFill/>
          <a:ln/>
        </p:spPr>
        <p:txBody>
          <a:bodyPr wrap="square" lIns="0" tIns="0" rIns="0" bIns="0" rtlCol="0" anchor="ctr"/>
          <a:lstStyle/>
          <a:p>
            <a:pPr marL="0" indent="0">
              <a:lnSpc>
                <a:spcPct val="110000"/>
              </a:lnSpc>
              <a:buNone/>
            </a:pPr>
            <a:r>
              <a:rPr lang="en-US" dirty="0">
                <a:solidFill>
                  <a:srgbClr val="1A1A1A"/>
                </a:solidFill>
                <a:latin typeface="Times New Roman" panose="02020603050405020304" pitchFamily="18" charset="0"/>
                <a:ea typeface="Calibri" pitchFamily="34" charset="-122"/>
                <a:cs typeface="Times New Roman" panose="02020603050405020304" pitchFamily="18" charset="0"/>
              </a:rPr>
              <a:t>Manual provisioning limited scalability and elasticity</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6446520" y="2697480"/>
            <a:ext cx="5166360" cy="274320"/>
          </a:xfrm>
          <a:prstGeom prst="rect">
            <a:avLst/>
          </a:prstGeom>
          <a:noFill/>
          <a:ln/>
        </p:spPr>
        <p:txBody>
          <a:bodyPr wrap="square" lIns="0" tIns="0" rIns="0" bIns="0" rtlCol="0" anchor="ctr"/>
          <a:lstStyle/>
          <a:p>
            <a:pPr marL="0" indent="0" algn="ctr">
              <a:buNone/>
            </a:pPr>
            <a:r>
              <a:rPr lang="en-US" sz="1600" b="1" dirty="0">
                <a:solidFill>
                  <a:srgbClr val="1E2761"/>
                </a:solidFill>
                <a:latin typeface="Times New Roman" panose="02020603050405020304" pitchFamily="18" charset="0"/>
                <a:ea typeface="Calibri" pitchFamily="34" charset="-122"/>
                <a:cs typeface="Times New Roman" panose="02020603050405020304" pitchFamily="18" charset="0"/>
              </a:rPr>
              <a:t>Traditional Hardware  →  NFV Software-Based Network</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6446520" y="3108960"/>
            <a:ext cx="2148840" cy="2743200"/>
          </a:xfrm>
          <a:prstGeom prst="roundRect">
            <a:avLst>
              <a:gd name="adj" fmla="val 2553"/>
            </a:avLst>
          </a:prstGeom>
          <a:solidFill>
            <a:srgbClr val="F2F2F2"/>
          </a:solidFill>
          <a:ln w="12700">
            <a:solidFill>
              <a:srgbClr val="D9D9D9"/>
            </a:solidFill>
            <a:prstDash val="solid"/>
          </a:ln>
        </p:spPr>
      </p:sp>
      <p:pic>
        <p:nvPicPr>
          <p:cNvPr id="18" name="Image 0" descr="icons/server_navy.png"/>
          <p:cNvPicPr>
            <a:picLocks noChangeAspect="1"/>
          </p:cNvPicPr>
          <p:nvPr/>
        </p:nvPicPr>
        <p:blipFill>
          <a:blip r:embed="rId3"/>
          <a:stretch>
            <a:fillRect/>
          </a:stretch>
        </p:blipFill>
        <p:spPr>
          <a:xfrm>
            <a:off x="7264908" y="3364992"/>
            <a:ext cx="512064" cy="512064"/>
          </a:xfrm>
          <a:prstGeom prst="rect">
            <a:avLst/>
          </a:prstGeom>
        </p:spPr>
      </p:pic>
      <p:sp>
        <p:nvSpPr>
          <p:cNvPr id="19" name="Text 16"/>
          <p:cNvSpPr/>
          <p:nvPr/>
        </p:nvSpPr>
        <p:spPr>
          <a:xfrm>
            <a:off x="6583680" y="4023360"/>
            <a:ext cx="1874520" cy="320040"/>
          </a:xfrm>
          <a:prstGeom prst="rect">
            <a:avLst/>
          </a:prstGeom>
          <a:noFill/>
          <a:ln/>
        </p:spPr>
        <p:txBody>
          <a:bodyPr wrap="square" lIns="0" tIns="0" rIns="0" bIns="0" rtlCol="0" anchor="ctr"/>
          <a:lstStyle/>
          <a:p>
            <a:pPr marL="0" indent="0" algn="ctr">
              <a:buNone/>
            </a:pPr>
            <a:r>
              <a:rPr lang="en-US" sz="1250" b="1" dirty="0">
                <a:solidFill>
                  <a:srgbClr val="1E2761"/>
                </a:solidFill>
                <a:latin typeface="Times New Roman" panose="02020603050405020304" pitchFamily="18" charset="0"/>
                <a:ea typeface="Calibri" pitchFamily="34" charset="-122"/>
                <a:cs typeface="Times New Roman" panose="02020603050405020304" pitchFamily="18" charset="0"/>
              </a:rPr>
              <a:t>Traditional Network</a:t>
            </a:r>
            <a:endParaRPr lang="en-US" sz="1250" dirty="0">
              <a:latin typeface="Times New Roman" panose="02020603050405020304" pitchFamily="18" charset="0"/>
              <a:cs typeface="Times New Roman" panose="02020603050405020304" pitchFamily="18" charset="0"/>
            </a:endParaRPr>
          </a:p>
        </p:txBody>
      </p:sp>
      <p:sp>
        <p:nvSpPr>
          <p:cNvPr id="20" name="Text 17"/>
          <p:cNvSpPr/>
          <p:nvPr/>
        </p:nvSpPr>
        <p:spPr>
          <a:xfrm>
            <a:off x="6611112" y="4434840"/>
            <a:ext cx="1819656" cy="292608"/>
          </a:xfrm>
          <a:prstGeom prst="rect">
            <a:avLst/>
          </a:prstGeom>
          <a:noFill/>
          <a:ln/>
        </p:spPr>
        <p:txBody>
          <a:bodyPr wrap="square" lIns="0" tIns="0" rIns="0" bIns="0" rtlCol="0" anchor="ctr"/>
          <a:lstStyle/>
          <a:p>
            <a:pPr marL="0" indent="0" algn="ctr">
              <a:buNone/>
            </a:pPr>
            <a:r>
              <a:rPr lang="en-US" sz="1050" dirty="0">
                <a:solidFill>
                  <a:srgbClr val="1A1A1A"/>
                </a:solidFill>
                <a:latin typeface="Times New Roman" panose="02020603050405020304" pitchFamily="18" charset="0"/>
                <a:ea typeface="Calibri" pitchFamily="34" charset="-122"/>
                <a:cs typeface="Times New Roman" panose="02020603050405020304" pitchFamily="18" charset="0"/>
              </a:rPr>
              <a:t>Dedicated appliances</a:t>
            </a:r>
            <a:endParaRPr lang="en-US" sz="1050" dirty="0">
              <a:latin typeface="Times New Roman" panose="02020603050405020304" pitchFamily="18" charset="0"/>
              <a:cs typeface="Times New Roman" panose="02020603050405020304" pitchFamily="18" charset="0"/>
            </a:endParaRPr>
          </a:p>
        </p:txBody>
      </p:sp>
      <p:sp>
        <p:nvSpPr>
          <p:cNvPr id="21" name="Text 18"/>
          <p:cNvSpPr/>
          <p:nvPr/>
        </p:nvSpPr>
        <p:spPr>
          <a:xfrm>
            <a:off x="6611112" y="4764024"/>
            <a:ext cx="1819656" cy="292608"/>
          </a:xfrm>
          <a:prstGeom prst="rect">
            <a:avLst/>
          </a:prstGeom>
          <a:noFill/>
          <a:ln/>
        </p:spPr>
        <p:txBody>
          <a:bodyPr wrap="square" lIns="0" tIns="0" rIns="0" bIns="0" rtlCol="0" anchor="ctr"/>
          <a:lstStyle/>
          <a:p>
            <a:pPr marL="0" indent="0" algn="ctr">
              <a:buNone/>
            </a:pPr>
            <a:r>
              <a:rPr lang="en-US" sz="1050" dirty="0">
                <a:solidFill>
                  <a:srgbClr val="1A1A1A"/>
                </a:solidFill>
                <a:latin typeface="Times New Roman" panose="02020603050405020304" pitchFamily="18" charset="0"/>
                <a:ea typeface="Calibri" pitchFamily="34" charset="-122"/>
                <a:cs typeface="Times New Roman" panose="02020603050405020304" pitchFamily="18" charset="0"/>
              </a:rPr>
              <a:t>Fixed capacity</a:t>
            </a:r>
            <a:endParaRPr lang="en-US" sz="1050" dirty="0">
              <a:latin typeface="Times New Roman" panose="02020603050405020304" pitchFamily="18" charset="0"/>
              <a:cs typeface="Times New Roman" panose="02020603050405020304" pitchFamily="18" charset="0"/>
            </a:endParaRPr>
          </a:p>
        </p:txBody>
      </p:sp>
      <p:sp>
        <p:nvSpPr>
          <p:cNvPr id="22" name="Text 19"/>
          <p:cNvSpPr/>
          <p:nvPr/>
        </p:nvSpPr>
        <p:spPr>
          <a:xfrm>
            <a:off x="6611112" y="5093208"/>
            <a:ext cx="1819656" cy="292608"/>
          </a:xfrm>
          <a:prstGeom prst="rect">
            <a:avLst/>
          </a:prstGeom>
          <a:noFill/>
          <a:ln/>
        </p:spPr>
        <p:txBody>
          <a:bodyPr wrap="square" lIns="0" tIns="0" rIns="0" bIns="0" rtlCol="0" anchor="ctr"/>
          <a:lstStyle/>
          <a:p>
            <a:pPr marL="0" indent="0" algn="ctr">
              <a:buNone/>
            </a:pPr>
            <a:r>
              <a:rPr lang="en-US" sz="1050" dirty="0">
                <a:solidFill>
                  <a:srgbClr val="1A1A1A"/>
                </a:solidFill>
                <a:latin typeface="Times New Roman" panose="02020603050405020304" pitchFamily="18" charset="0"/>
                <a:ea typeface="Calibri" pitchFamily="34" charset="-122"/>
                <a:cs typeface="Times New Roman" panose="02020603050405020304" pitchFamily="18" charset="0"/>
              </a:rPr>
              <a:t>Manual configuration</a:t>
            </a:r>
            <a:endParaRPr lang="en-US" sz="1050" dirty="0">
              <a:latin typeface="Times New Roman" panose="02020603050405020304" pitchFamily="18" charset="0"/>
              <a:cs typeface="Times New Roman" panose="02020603050405020304" pitchFamily="18" charset="0"/>
            </a:endParaRPr>
          </a:p>
        </p:txBody>
      </p:sp>
      <p:sp>
        <p:nvSpPr>
          <p:cNvPr id="23" name="Text 20"/>
          <p:cNvSpPr/>
          <p:nvPr/>
        </p:nvSpPr>
        <p:spPr>
          <a:xfrm>
            <a:off x="6611112" y="5422392"/>
            <a:ext cx="1819656" cy="292608"/>
          </a:xfrm>
          <a:prstGeom prst="rect">
            <a:avLst/>
          </a:prstGeom>
          <a:noFill/>
          <a:ln/>
        </p:spPr>
        <p:txBody>
          <a:bodyPr wrap="square" lIns="0" tIns="0" rIns="0" bIns="0" rtlCol="0" anchor="ctr"/>
          <a:lstStyle/>
          <a:p>
            <a:pPr marL="0" indent="0" algn="ctr">
              <a:buNone/>
            </a:pPr>
            <a:r>
              <a:rPr lang="en-US" sz="1050" dirty="0">
                <a:solidFill>
                  <a:srgbClr val="1A1A1A"/>
                </a:solidFill>
                <a:latin typeface="Times New Roman" panose="02020603050405020304" pitchFamily="18" charset="0"/>
                <a:ea typeface="Calibri" pitchFamily="34" charset="-122"/>
                <a:cs typeface="Times New Roman" panose="02020603050405020304" pitchFamily="18" charset="0"/>
              </a:rPr>
              <a:t>Slow rollout</a:t>
            </a:r>
            <a:endParaRPr lang="en-US" sz="1050" dirty="0">
              <a:latin typeface="Times New Roman" panose="02020603050405020304" pitchFamily="18" charset="0"/>
              <a:cs typeface="Times New Roman" panose="02020603050405020304" pitchFamily="18" charset="0"/>
            </a:endParaRPr>
          </a:p>
        </p:txBody>
      </p:sp>
      <p:sp>
        <p:nvSpPr>
          <p:cNvPr id="24" name="Shape 21"/>
          <p:cNvSpPr/>
          <p:nvPr/>
        </p:nvSpPr>
        <p:spPr>
          <a:xfrm>
            <a:off x="8705088" y="4334256"/>
            <a:ext cx="603504" cy="292608"/>
          </a:xfrm>
          <a:prstGeom prst="rightArrow">
            <a:avLst/>
          </a:prstGeom>
          <a:solidFill>
            <a:srgbClr val="1E2761"/>
          </a:solidFill>
          <a:ln/>
        </p:spPr>
      </p:sp>
      <p:sp>
        <p:nvSpPr>
          <p:cNvPr id="25" name="Shape 22"/>
          <p:cNvSpPr/>
          <p:nvPr/>
        </p:nvSpPr>
        <p:spPr>
          <a:xfrm>
            <a:off x="9418320" y="3108960"/>
            <a:ext cx="2148840" cy="2743200"/>
          </a:xfrm>
          <a:prstGeom prst="roundRect">
            <a:avLst>
              <a:gd name="adj" fmla="val 2553"/>
            </a:avLst>
          </a:prstGeom>
          <a:solidFill>
            <a:srgbClr val="1E2761"/>
          </a:solidFill>
          <a:ln/>
        </p:spPr>
      </p:sp>
      <p:pic>
        <p:nvPicPr>
          <p:cNvPr id="26" name="Image 1" descr="icons/cloud_white.png"/>
          <p:cNvPicPr>
            <a:picLocks noChangeAspect="1"/>
          </p:cNvPicPr>
          <p:nvPr/>
        </p:nvPicPr>
        <p:blipFill>
          <a:blip r:embed="rId4"/>
          <a:stretch>
            <a:fillRect/>
          </a:stretch>
        </p:blipFill>
        <p:spPr>
          <a:xfrm>
            <a:off x="10236708" y="3364992"/>
            <a:ext cx="512064" cy="512064"/>
          </a:xfrm>
          <a:prstGeom prst="rect">
            <a:avLst/>
          </a:prstGeom>
        </p:spPr>
      </p:pic>
      <p:sp>
        <p:nvSpPr>
          <p:cNvPr id="27" name="Text 23"/>
          <p:cNvSpPr/>
          <p:nvPr/>
        </p:nvSpPr>
        <p:spPr>
          <a:xfrm>
            <a:off x="9555480" y="4023360"/>
            <a:ext cx="187452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NFV Software Network</a:t>
            </a:r>
            <a:endParaRPr lang="en-US" sz="1250" dirty="0">
              <a:latin typeface="Times New Roman" panose="02020603050405020304" pitchFamily="18" charset="0"/>
              <a:cs typeface="Times New Roman" panose="02020603050405020304" pitchFamily="18" charset="0"/>
            </a:endParaRPr>
          </a:p>
        </p:txBody>
      </p:sp>
      <p:sp>
        <p:nvSpPr>
          <p:cNvPr id="28" name="Text 24"/>
          <p:cNvSpPr/>
          <p:nvPr/>
        </p:nvSpPr>
        <p:spPr>
          <a:xfrm>
            <a:off x="9582912" y="4434840"/>
            <a:ext cx="1819656" cy="292608"/>
          </a:xfrm>
          <a:prstGeom prst="rect">
            <a:avLst/>
          </a:prstGeom>
          <a:noFill/>
          <a:ln/>
        </p:spPr>
        <p:txBody>
          <a:bodyPr wrap="square" lIns="0" tIns="0" rIns="0" bIns="0" rtlCol="0" anchor="ctr"/>
          <a:lstStyle/>
          <a:p>
            <a:pPr marL="0" indent="0" algn="ctr">
              <a:buNone/>
            </a:pPr>
            <a:r>
              <a:rPr lang="en-US" sz="1050" dirty="0">
                <a:solidFill>
                  <a:srgbClr val="FFFFFF"/>
                </a:solidFill>
                <a:latin typeface="Times New Roman" panose="02020603050405020304" pitchFamily="18" charset="0"/>
                <a:ea typeface="Calibri" pitchFamily="34" charset="-122"/>
                <a:cs typeface="Times New Roman" panose="02020603050405020304" pitchFamily="18" charset="0"/>
              </a:rPr>
              <a:t>Virtualized functions</a:t>
            </a:r>
            <a:endParaRPr lang="en-US" sz="1050" dirty="0">
              <a:latin typeface="Times New Roman" panose="02020603050405020304" pitchFamily="18" charset="0"/>
              <a:cs typeface="Times New Roman" panose="02020603050405020304" pitchFamily="18" charset="0"/>
            </a:endParaRPr>
          </a:p>
        </p:txBody>
      </p:sp>
      <p:sp>
        <p:nvSpPr>
          <p:cNvPr id="29" name="Text 25"/>
          <p:cNvSpPr/>
          <p:nvPr/>
        </p:nvSpPr>
        <p:spPr>
          <a:xfrm>
            <a:off x="9582912" y="4764024"/>
            <a:ext cx="1819656" cy="292608"/>
          </a:xfrm>
          <a:prstGeom prst="rect">
            <a:avLst/>
          </a:prstGeom>
          <a:noFill/>
          <a:ln/>
        </p:spPr>
        <p:txBody>
          <a:bodyPr wrap="square" lIns="0" tIns="0" rIns="0" bIns="0" rtlCol="0" anchor="ctr"/>
          <a:lstStyle/>
          <a:p>
            <a:pPr marL="0" indent="0" algn="ctr">
              <a:buNone/>
            </a:pPr>
            <a:r>
              <a:rPr lang="en-US" sz="1050" dirty="0">
                <a:solidFill>
                  <a:srgbClr val="FFFFFF"/>
                </a:solidFill>
                <a:latin typeface="Times New Roman" panose="02020603050405020304" pitchFamily="18" charset="0"/>
                <a:ea typeface="Calibri" pitchFamily="34" charset="-122"/>
                <a:cs typeface="Times New Roman" panose="02020603050405020304" pitchFamily="18" charset="0"/>
              </a:rPr>
              <a:t>Elastic scaling</a:t>
            </a:r>
            <a:endParaRPr lang="en-US" sz="1050" dirty="0">
              <a:latin typeface="Times New Roman" panose="02020603050405020304" pitchFamily="18" charset="0"/>
              <a:cs typeface="Times New Roman" panose="02020603050405020304" pitchFamily="18" charset="0"/>
            </a:endParaRPr>
          </a:p>
        </p:txBody>
      </p:sp>
      <p:sp>
        <p:nvSpPr>
          <p:cNvPr id="30" name="Text 26"/>
          <p:cNvSpPr/>
          <p:nvPr/>
        </p:nvSpPr>
        <p:spPr>
          <a:xfrm>
            <a:off x="9582912" y="5093208"/>
            <a:ext cx="1819656" cy="292608"/>
          </a:xfrm>
          <a:prstGeom prst="rect">
            <a:avLst/>
          </a:prstGeom>
          <a:noFill/>
          <a:ln/>
        </p:spPr>
        <p:txBody>
          <a:bodyPr wrap="square" lIns="0" tIns="0" rIns="0" bIns="0" rtlCol="0" anchor="ctr"/>
          <a:lstStyle/>
          <a:p>
            <a:pPr marL="0" indent="0" algn="ctr">
              <a:buNone/>
            </a:pPr>
            <a:r>
              <a:rPr lang="en-US" sz="1050" dirty="0">
                <a:solidFill>
                  <a:srgbClr val="FFFFFF"/>
                </a:solidFill>
                <a:latin typeface="Times New Roman" panose="02020603050405020304" pitchFamily="18" charset="0"/>
                <a:ea typeface="Calibri" pitchFamily="34" charset="-122"/>
                <a:cs typeface="Times New Roman" panose="02020603050405020304" pitchFamily="18" charset="0"/>
              </a:rPr>
              <a:t>Automated orchestration</a:t>
            </a:r>
            <a:endParaRPr lang="en-US" sz="1050" dirty="0">
              <a:latin typeface="Times New Roman" panose="02020603050405020304" pitchFamily="18" charset="0"/>
              <a:cs typeface="Times New Roman" panose="02020603050405020304" pitchFamily="18" charset="0"/>
            </a:endParaRPr>
          </a:p>
        </p:txBody>
      </p:sp>
      <p:sp>
        <p:nvSpPr>
          <p:cNvPr id="31" name="Text 27"/>
          <p:cNvSpPr/>
          <p:nvPr/>
        </p:nvSpPr>
        <p:spPr>
          <a:xfrm>
            <a:off x="9582912" y="5422392"/>
            <a:ext cx="1819656" cy="292608"/>
          </a:xfrm>
          <a:prstGeom prst="rect">
            <a:avLst/>
          </a:prstGeom>
          <a:noFill/>
          <a:ln/>
        </p:spPr>
        <p:txBody>
          <a:bodyPr wrap="square" lIns="0" tIns="0" rIns="0" bIns="0" rtlCol="0" anchor="ctr"/>
          <a:lstStyle/>
          <a:p>
            <a:pPr marL="0" indent="0" algn="ctr">
              <a:buNone/>
            </a:pPr>
            <a:r>
              <a:rPr lang="en-US" sz="1050" dirty="0">
                <a:solidFill>
                  <a:srgbClr val="FFFFFF"/>
                </a:solidFill>
                <a:latin typeface="Times New Roman" panose="02020603050405020304" pitchFamily="18" charset="0"/>
                <a:ea typeface="Calibri" pitchFamily="34" charset="-122"/>
                <a:cs typeface="Times New Roman" panose="02020603050405020304" pitchFamily="18" charset="0"/>
              </a:rPr>
              <a:t>Rapid deployment</a:t>
            </a:r>
            <a:endParaRPr lang="en-US" sz="1050" dirty="0">
              <a:latin typeface="Times New Roman" panose="02020603050405020304" pitchFamily="18" charset="0"/>
              <a:cs typeface="Times New Roman" panose="02020603050405020304" pitchFamily="18" charset="0"/>
            </a:endParaRPr>
          </a:p>
        </p:txBody>
      </p:sp>
      <p:sp>
        <p:nvSpPr>
          <p:cNvPr id="34" name="Text 30"/>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Times New Roman" panose="02020603050405020304" pitchFamily="18" charset="0"/>
                <a:ea typeface="Calibri" pitchFamily="34" charset="-122"/>
                <a:cs typeface="Times New Roman" panose="02020603050405020304" pitchFamily="18" charset="0"/>
              </a:rPr>
              <a:t>1</a:t>
            </a:r>
            <a:endParaRPr lang="en-US" sz="900" dirty="0">
              <a:latin typeface="Times New Roman" panose="02020603050405020304" pitchFamily="18" charset="0"/>
              <a:cs typeface="Times New Roman" panose="02020603050405020304" pitchFamily="18" charset="0"/>
            </a:endParaRPr>
          </a:p>
        </p:txBody>
      </p:sp>
      <p:sp>
        <p:nvSpPr>
          <p:cNvPr id="40" name="Text 0">
            <a:extLst>
              <a:ext uri="{FF2B5EF4-FFF2-40B4-BE49-F238E27FC236}">
                <a16:creationId xmlns:a16="http://schemas.microsoft.com/office/drawing/2014/main" id="{0C03FEA7-F90C-48A7-75D3-EC72316741DA}"/>
              </a:ext>
            </a:extLst>
          </p:cNvPr>
          <p:cNvSpPr/>
          <p:nvPr/>
        </p:nvSpPr>
        <p:spPr>
          <a:xfrm>
            <a:off x="548640" y="384048"/>
            <a:ext cx="9779360" cy="481092"/>
          </a:xfrm>
          <a:prstGeom prst="rect">
            <a:avLst/>
          </a:prstGeom>
          <a:noFill/>
          <a:ln/>
        </p:spPr>
        <p:txBody>
          <a:bodyPr wrap="square" lIns="0" tIns="0" rIns="0" bIns="0" rtlCol="0" anchor="ctr"/>
          <a:lstStyle/>
          <a:p>
            <a:pPr marL="0" indent="0" algn="ctr">
              <a:buNone/>
            </a:pPr>
            <a:r>
              <a:rPr lang="en-US" sz="2600" b="1" kern="0" spc="200" dirty="0">
                <a:solidFill>
                  <a:srgbClr val="5A5A5A"/>
                </a:solidFill>
                <a:latin typeface="Times New Roman" panose="02020603050405020304" pitchFamily="18" charset="0"/>
                <a:ea typeface="Calibri" pitchFamily="34" charset="-122"/>
                <a:cs typeface="Times New Roman" panose="02020603050405020304" pitchFamily="18" charset="0"/>
              </a:rPr>
              <a:t>INTRODUCTION</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1064240" cy="640080"/>
          </a:xfrm>
          <a:prstGeom prst="rect">
            <a:avLst/>
          </a:prstGeom>
          <a:noFill/>
          <a:ln/>
        </p:spPr>
        <p:txBody>
          <a:bodyPr wrap="square" lIns="0" tIns="0" rIns="0" bIns="0" rtlCol="0" anchor="ctr"/>
          <a:lstStyle/>
          <a:p>
            <a:pPr marL="0" indent="0" algn="ctr">
              <a:buNone/>
            </a:pPr>
            <a:r>
              <a:rPr lang="en-US" sz="2600" b="1" dirty="0">
                <a:solidFill>
                  <a:srgbClr val="1E2761"/>
                </a:solidFill>
                <a:latin typeface="Times New Roman" panose="02020603050405020304" pitchFamily="18" charset="0"/>
                <a:ea typeface="Calibri" pitchFamily="34" charset="-122"/>
                <a:cs typeface="Times New Roman" panose="02020603050405020304" pitchFamily="18" charset="0"/>
              </a:rPr>
              <a:t>Current Applications and Industry Usage</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548640" y="1554480"/>
            <a:ext cx="5486400" cy="274320"/>
          </a:xfrm>
          <a:prstGeom prst="rect">
            <a:avLst/>
          </a:prstGeom>
          <a:noFill/>
          <a:ln/>
        </p:spPr>
        <p:txBody>
          <a:bodyPr wrap="square" lIns="0" tIns="0" rIns="0" bIns="0" rtlCol="0" anchor="ctr"/>
          <a:lstStyle/>
          <a:p>
            <a:pPr marL="0" indent="0">
              <a:buNone/>
            </a:pPr>
            <a:r>
              <a:rPr lang="en-US" sz="1350" b="1" dirty="0">
                <a:solidFill>
                  <a:srgbClr val="1E2761"/>
                </a:solidFill>
                <a:latin typeface="Times New Roman" panose="02020603050405020304" pitchFamily="18" charset="0"/>
                <a:ea typeface="Calibri" pitchFamily="34" charset="-122"/>
                <a:cs typeface="Times New Roman" panose="02020603050405020304" pitchFamily="18" charset="0"/>
              </a:rPr>
              <a:t>Primary Deployment Areas</a:t>
            </a:r>
            <a:endParaRPr lang="en-US" sz="1350" dirty="0">
              <a:latin typeface="Times New Roman" panose="02020603050405020304" pitchFamily="18" charset="0"/>
              <a:cs typeface="Times New Roman" panose="02020603050405020304" pitchFamily="18" charset="0"/>
            </a:endParaRPr>
          </a:p>
        </p:txBody>
      </p:sp>
      <p:sp>
        <p:nvSpPr>
          <p:cNvPr id="5" name="Shape 3"/>
          <p:cNvSpPr/>
          <p:nvPr/>
        </p:nvSpPr>
        <p:spPr>
          <a:xfrm>
            <a:off x="548640" y="1920240"/>
            <a:ext cx="2688336" cy="1207008"/>
          </a:xfrm>
          <a:prstGeom prst="roundRect">
            <a:avLst>
              <a:gd name="adj" fmla="val 3788"/>
            </a:avLst>
          </a:prstGeom>
          <a:solidFill>
            <a:srgbClr val="F2F2F2"/>
          </a:solidFill>
          <a:ln w="6350">
            <a:solidFill>
              <a:srgbClr val="D9D9D9"/>
            </a:solidFill>
            <a:prstDash val="solid"/>
          </a:ln>
        </p:spPr>
      </p:sp>
      <p:pic>
        <p:nvPicPr>
          <p:cNvPr id="6" name="Image 0" descr="icons/radio_navy.png"/>
          <p:cNvPicPr>
            <a:picLocks noChangeAspect="1"/>
          </p:cNvPicPr>
          <p:nvPr/>
        </p:nvPicPr>
        <p:blipFill>
          <a:blip r:embed="rId3"/>
          <a:stretch>
            <a:fillRect/>
          </a:stretch>
        </p:blipFill>
        <p:spPr>
          <a:xfrm>
            <a:off x="694944" y="2066544"/>
            <a:ext cx="292608" cy="292608"/>
          </a:xfrm>
          <a:prstGeom prst="rect">
            <a:avLst/>
          </a:prstGeom>
        </p:spPr>
      </p:pic>
      <p:sp>
        <p:nvSpPr>
          <p:cNvPr id="7" name="Text 4"/>
          <p:cNvSpPr/>
          <p:nvPr/>
        </p:nvSpPr>
        <p:spPr>
          <a:xfrm>
            <a:off x="694944" y="2423160"/>
            <a:ext cx="2395728" cy="274320"/>
          </a:xfrm>
          <a:prstGeom prst="rect">
            <a:avLst/>
          </a:prstGeom>
          <a:noFill/>
          <a:ln/>
        </p:spPr>
        <p:txBody>
          <a:bodyPr wrap="square" lIns="0" tIns="0" rIns="0" bIns="0" rtlCol="0" anchor="ctr"/>
          <a:lstStyle/>
          <a:p>
            <a:pPr marL="0" indent="0">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5G Core Networks</a:t>
            </a:r>
            <a:endParaRPr lang="en-US" sz="1150" dirty="0">
              <a:latin typeface="Times New Roman" panose="02020603050405020304" pitchFamily="18" charset="0"/>
              <a:cs typeface="Times New Roman" panose="02020603050405020304" pitchFamily="18" charset="0"/>
            </a:endParaRPr>
          </a:p>
        </p:txBody>
      </p:sp>
      <p:sp>
        <p:nvSpPr>
          <p:cNvPr id="8" name="Text 5"/>
          <p:cNvSpPr/>
          <p:nvPr/>
        </p:nvSpPr>
        <p:spPr>
          <a:xfrm>
            <a:off x="694944" y="2697480"/>
            <a:ext cx="2395728" cy="411480"/>
          </a:xfrm>
          <a:prstGeom prst="rect">
            <a:avLst/>
          </a:prstGeom>
          <a:noFill/>
          <a:ln/>
        </p:spPr>
        <p:txBody>
          <a:bodyPr wrap="square" lIns="0" tIns="0" rIns="0" bIns="0" rtlCol="0" anchor="ctr"/>
          <a:lstStyle/>
          <a:p>
            <a:pPr marL="0" indent="0">
              <a:lnSpc>
                <a:spcPct val="105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Control- and user-plane functions virtualized as CNFs</a:t>
            </a:r>
            <a:endParaRPr lang="en-US" sz="950" dirty="0">
              <a:latin typeface="Times New Roman" panose="02020603050405020304" pitchFamily="18" charset="0"/>
              <a:cs typeface="Times New Roman" panose="02020603050405020304" pitchFamily="18" charset="0"/>
            </a:endParaRPr>
          </a:p>
        </p:txBody>
      </p:sp>
      <p:sp>
        <p:nvSpPr>
          <p:cNvPr id="9" name="Shape 6"/>
          <p:cNvSpPr/>
          <p:nvPr/>
        </p:nvSpPr>
        <p:spPr>
          <a:xfrm>
            <a:off x="3364992" y="1920240"/>
            <a:ext cx="2688336" cy="1207008"/>
          </a:xfrm>
          <a:prstGeom prst="roundRect">
            <a:avLst>
              <a:gd name="adj" fmla="val 3788"/>
            </a:avLst>
          </a:prstGeom>
          <a:solidFill>
            <a:srgbClr val="F2F2F2"/>
          </a:solidFill>
          <a:ln w="6350">
            <a:solidFill>
              <a:srgbClr val="D9D9D9"/>
            </a:solidFill>
            <a:prstDash val="solid"/>
          </a:ln>
        </p:spPr>
      </p:sp>
      <p:pic>
        <p:nvPicPr>
          <p:cNvPr id="10" name="Image 1" descr="icons/database_navy.png"/>
          <p:cNvPicPr>
            <a:picLocks noChangeAspect="1"/>
          </p:cNvPicPr>
          <p:nvPr/>
        </p:nvPicPr>
        <p:blipFill>
          <a:blip r:embed="rId4"/>
          <a:stretch>
            <a:fillRect/>
          </a:stretch>
        </p:blipFill>
        <p:spPr>
          <a:xfrm>
            <a:off x="3511296" y="2066544"/>
            <a:ext cx="292608" cy="292608"/>
          </a:xfrm>
          <a:prstGeom prst="rect">
            <a:avLst/>
          </a:prstGeom>
        </p:spPr>
      </p:pic>
      <p:sp>
        <p:nvSpPr>
          <p:cNvPr id="11" name="Text 7"/>
          <p:cNvSpPr/>
          <p:nvPr/>
        </p:nvSpPr>
        <p:spPr>
          <a:xfrm>
            <a:off x="3511296" y="2423160"/>
            <a:ext cx="2395728" cy="274320"/>
          </a:xfrm>
          <a:prstGeom prst="rect">
            <a:avLst/>
          </a:prstGeom>
          <a:noFill/>
          <a:ln/>
        </p:spPr>
        <p:txBody>
          <a:bodyPr wrap="square" lIns="0" tIns="0" rIns="0" bIns="0" rtlCol="0" anchor="ctr"/>
          <a:lstStyle/>
          <a:p>
            <a:pPr marL="0" indent="0">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Cloud Data Centers</a:t>
            </a:r>
            <a:endParaRPr lang="en-US" sz="1150" dirty="0">
              <a:latin typeface="Times New Roman" panose="02020603050405020304" pitchFamily="18" charset="0"/>
              <a:cs typeface="Times New Roman" panose="02020603050405020304" pitchFamily="18" charset="0"/>
            </a:endParaRPr>
          </a:p>
        </p:txBody>
      </p:sp>
      <p:sp>
        <p:nvSpPr>
          <p:cNvPr id="12" name="Text 8"/>
          <p:cNvSpPr/>
          <p:nvPr/>
        </p:nvSpPr>
        <p:spPr>
          <a:xfrm>
            <a:off x="3511296" y="2697480"/>
            <a:ext cx="2395728" cy="411480"/>
          </a:xfrm>
          <a:prstGeom prst="rect">
            <a:avLst/>
          </a:prstGeom>
          <a:noFill/>
          <a:ln/>
        </p:spPr>
        <p:txBody>
          <a:bodyPr wrap="square" lIns="0" tIns="0" rIns="0" bIns="0" rtlCol="0" anchor="ctr"/>
          <a:lstStyle/>
          <a:p>
            <a:pPr marL="0" indent="0">
              <a:lnSpc>
                <a:spcPct val="105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Elastic compute and network services on demand</a:t>
            </a:r>
            <a:endParaRPr lang="en-US" sz="950" dirty="0">
              <a:latin typeface="Times New Roman" panose="02020603050405020304" pitchFamily="18" charset="0"/>
              <a:cs typeface="Times New Roman" panose="02020603050405020304" pitchFamily="18" charset="0"/>
            </a:endParaRPr>
          </a:p>
        </p:txBody>
      </p:sp>
      <p:sp>
        <p:nvSpPr>
          <p:cNvPr id="13" name="Shape 9"/>
          <p:cNvSpPr/>
          <p:nvPr/>
        </p:nvSpPr>
        <p:spPr>
          <a:xfrm>
            <a:off x="6181344" y="1920240"/>
            <a:ext cx="2688336" cy="1207008"/>
          </a:xfrm>
          <a:prstGeom prst="roundRect">
            <a:avLst>
              <a:gd name="adj" fmla="val 3788"/>
            </a:avLst>
          </a:prstGeom>
          <a:solidFill>
            <a:srgbClr val="F2F2F2"/>
          </a:solidFill>
          <a:ln w="6350">
            <a:solidFill>
              <a:srgbClr val="D9D9D9"/>
            </a:solidFill>
            <a:prstDash val="solid"/>
          </a:ln>
        </p:spPr>
      </p:sp>
      <p:pic>
        <p:nvPicPr>
          <p:cNvPr id="14" name="Image 2" descr="icons/gitbranch_navy.png"/>
          <p:cNvPicPr>
            <a:picLocks noChangeAspect="1"/>
          </p:cNvPicPr>
          <p:nvPr/>
        </p:nvPicPr>
        <p:blipFill>
          <a:blip r:embed="rId5"/>
          <a:stretch>
            <a:fillRect/>
          </a:stretch>
        </p:blipFill>
        <p:spPr>
          <a:xfrm>
            <a:off x="6327648" y="2066544"/>
            <a:ext cx="292608" cy="292608"/>
          </a:xfrm>
          <a:prstGeom prst="rect">
            <a:avLst/>
          </a:prstGeom>
        </p:spPr>
      </p:pic>
      <p:sp>
        <p:nvSpPr>
          <p:cNvPr id="15" name="Text 10"/>
          <p:cNvSpPr/>
          <p:nvPr/>
        </p:nvSpPr>
        <p:spPr>
          <a:xfrm>
            <a:off x="6327648" y="2423160"/>
            <a:ext cx="2395728" cy="274320"/>
          </a:xfrm>
          <a:prstGeom prst="rect">
            <a:avLst/>
          </a:prstGeom>
          <a:noFill/>
          <a:ln/>
        </p:spPr>
        <p:txBody>
          <a:bodyPr wrap="square" lIns="0" tIns="0" rIns="0" bIns="0" rtlCol="0" anchor="ctr"/>
          <a:lstStyle/>
          <a:p>
            <a:pPr marL="0" indent="0">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SD-WAN</a:t>
            </a:r>
            <a:endParaRPr lang="en-US" sz="1150" dirty="0">
              <a:latin typeface="Times New Roman" panose="02020603050405020304" pitchFamily="18" charset="0"/>
              <a:cs typeface="Times New Roman" panose="02020603050405020304" pitchFamily="18" charset="0"/>
            </a:endParaRPr>
          </a:p>
        </p:txBody>
      </p:sp>
      <p:sp>
        <p:nvSpPr>
          <p:cNvPr id="16" name="Text 11"/>
          <p:cNvSpPr/>
          <p:nvPr/>
        </p:nvSpPr>
        <p:spPr>
          <a:xfrm>
            <a:off x="6327648" y="2697480"/>
            <a:ext cx="2395728" cy="411480"/>
          </a:xfrm>
          <a:prstGeom prst="rect">
            <a:avLst/>
          </a:prstGeom>
          <a:noFill/>
          <a:ln/>
        </p:spPr>
        <p:txBody>
          <a:bodyPr wrap="square" lIns="0" tIns="0" rIns="0" bIns="0" rtlCol="0" anchor="ctr"/>
          <a:lstStyle/>
          <a:p>
            <a:pPr marL="0" indent="0">
              <a:lnSpc>
                <a:spcPct val="105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Software-defined branch and WAN connectivity</a:t>
            </a:r>
            <a:endParaRPr lang="en-US" sz="950" dirty="0">
              <a:latin typeface="Times New Roman" panose="02020603050405020304" pitchFamily="18" charset="0"/>
              <a:cs typeface="Times New Roman" panose="02020603050405020304" pitchFamily="18" charset="0"/>
            </a:endParaRPr>
          </a:p>
        </p:txBody>
      </p:sp>
      <p:sp>
        <p:nvSpPr>
          <p:cNvPr id="17" name="Shape 12"/>
          <p:cNvSpPr/>
          <p:nvPr/>
        </p:nvSpPr>
        <p:spPr>
          <a:xfrm>
            <a:off x="8997696" y="1920240"/>
            <a:ext cx="2688336" cy="1207008"/>
          </a:xfrm>
          <a:prstGeom prst="roundRect">
            <a:avLst>
              <a:gd name="adj" fmla="val 3788"/>
            </a:avLst>
          </a:prstGeom>
          <a:solidFill>
            <a:srgbClr val="F2F2F2"/>
          </a:solidFill>
          <a:ln w="6350">
            <a:solidFill>
              <a:srgbClr val="D9D9D9"/>
            </a:solidFill>
            <a:prstDash val="solid"/>
          </a:ln>
        </p:spPr>
      </p:sp>
      <p:pic>
        <p:nvPicPr>
          <p:cNvPr id="18" name="Image 3" descr="icons/shield_navy.png"/>
          <p:cNvPicPr>
            <a:picLocks noChangeAspect="1"/>
          </p:cNvPicPr>
          <p:nvPr/>
        </p:nvPicPr>
        <p:blipFill>
          <a:blip r:embed="rId6"/>
          <a:stretch>
            <a:fillRect/>
          </a:stretch>
        </p:blipFill>
        <p:spPr>
          <a:xfrm>
            <a:off x="9144000" y="2066544"/>
            <a:ext cx="292608" cy="292608"/>
          </a:xfrm>
          <a:prstGeom prst="rect">
            <a:avLst/>
          </a:prstGeom>
        </p:spPr>
      </p:pic>
      <p:sp>
        <p:nvSpPr>
          <p:cNvPr id="19" name="Text 13"/>
          <p:cNvSpPr/>
          <p:nvPr/>
        </p:nvSpPr>
        <p:spPr>
          <a:xfrm>
            <a:off x="9144000" y="2423160"/>
            <a:ext cx="2395728" cy="274320"/>
          </a:xfrm>
          <a:prstGeom prst="rect">
            <a:avLst/>
          </a:prstGeom>
          <a:noFill/>
          <a:ln/>
        </p:spPr>
        <p:txBody>
          <a:bodyPr wrap="square" lIns="0" tIns="0" rIns="0" bIns="0" rtlCol="0" anchor="ctr"/>
          <a:lstStyle/>
          <a:p>
            <a:pPr marL="0" indent="0">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Virtual Firewalls</a:t>
            </a:r>
            <a:endParaRPr lang="en-US" sz="1150" dirty="0">
              <a:latin typeface="Times New Roman" panose="02020603050405020304" pitchFamily="18" charset="0"/>
              <a:cs typeface="Times New Roman" panose="02020603050405020304" pitchFamily="18" charset="0"/>
            </a:endParaRPr>
          </a:p>
        </p:txBody>
      </p:sp>
      <p:sp>
        <p:nvSpPr>
          <p:cNvPr id="20" name="Text 14"/>
          <p:cNvSpPr/>
          <p:nvPr/>
        </p:nvSpPr>
        <p:spPr>
          <a:xfrm>
            <a:off x="9144000" y="2697480"/>
            <a:ext cx="2395728" cy="411480"/>
          </a:xfrm>
          <a:prstGeom prst="rect">
            <a:avLst/>
          </a:prstGeom>
          <a:noFill/>
          <a:ln/>
        </p:spPr>
        <p:txBody>
          <a:bodyPr wrap="square" lIns="0" tIns="0" rIns="0" bIns="0" rtlCol="0" anchor="ctr"/>
          <a:lstStyle/>
          <a:p>
            <a:pPr marL="0" indent="0">
              <a:lnSpc>
                <a:spcPct val="105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Policy enforcement without dedicated appliances</a:t>
            </a:r>
            <a:endParaRPr lang="en-US" sz="950" dirty="0">
              <a:latin typeface="Times New Roman" panose="02020603050405020304" pitchFamily="18" charset="0"/>
              <a:cs typeface="Times New Roman" panose="02020603050405020304" pitchFamily="18" charset="0"/>
            </a:endParaRPr>
          </a:p>
        </p:txBody>
      </p:sp>
      <p:sp>
        <p:nvSpPr>
          <p:cNvPr id="21" name="Shape 15"/>
          <p:cNvSpPr/>
          <p:nvPr/>
        </p:nvSpPr>
        <p:spPr>
          <a:xfrm>
            <a:off x="548640" y="3255264"/>
            <a:ext cx="2688336" cy="1207008"/>
          </a:xfrm>
          <a:prstGeom prst="roundRect">
            <a:avLst>
              <a:gd name="adj" fmla="val 3788"/>
            </a:avLst>
          </a:prstGeom>
          <a:solidFill>
            <a:srgbClr val="F2F2F2"/>
          </a:solidFill>
          <a:ln w="6350">
            <a:solidFill>
              <a:srgbClr val="D9D9D9"/>
            </a:solidFill>
            <a:prstDash val="solid"/>
          </a:ln>
        </p:spPr>
      </p:sp>
      <p:pic>
        <p:nvPicPr>
          <p:cNvPr id="22" name="Image 4" descr="icons/navigation_navy.png"/>
          <p:cNvPicPr>
            <a:picLocks noChangeAspect="1"/>
          </p:cNvPicPr>
          <p:nvPr/>
        </p:nvPicPr>
        <p:blipFill>
          <a:blip r:embed="rId7"/>
          <a:stretch>
            <a:fillRect/>
          </a:stretch>
        </p:blipFill>
        <p:spPr>
          <a:xfrm>
            <a:off x="694944" y="3401568"/>
            <a:ext cx="292608" cy="292608"/>
          </a:xfrm>
          <a:prstGeom prst="rect">
            <a:avLst/>
          </a:prstGeom>
        </p:spPr>
      </p:pic>
      <p:sp>
        <p:nvSpPr>
          <p:cNvPr id="23" name="Text 16"/>
          <p:cNvSpPr/>
          <p:nvPr/>
        </p:nvSpPr>
        <p:spPr>
          <a:xfrm>
            <a:off x="694944" y="3758184"/>
            <a:ext cx="2395728" cy="274320"/>
          </a:xfrm>
          <a:prstGeom prst="rect">
            <a:avLst/>
          </a:prstGeom>
          <a:noFill/>
          <a:ln/>
        </p:spPr>
        <p:txBody>
          <a:bodyPr wrap="square" lIns="0" tIns="0" rIns="0" bIns="0" rtlCol="0" anchor="ctr"/>
          <a:lstStyle/>
          <a:p>
            <a:pPr marL="0" indent="0">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Virtual Routers</a:t>
            </a:r>
            <a:endParaRPr lang="en-US" sz="1150" dirty="0">
              <a:latin typeface="Times New Roman" panose="02020603050405020304" pitchFamily="18" charset="0"/>
              <a:cs typeface="Times New Roman" panose="02020603050405020304" pitchFamily="18" charset="0"/>
            </a:endParaRPr>
          </a:p>
        </p:txBody>
      </p:sp>
      <p:sp>
        <p:nvSpPr>
          <p:cNvPr id="24" name="Text 17"/>
          <p:cNvSpPr/>
          <p:nvPr/>
        </p:nvSpPr>
        <p:spPr>
          <a:xfrm>
            <a:off x="694944" y="4032504"/>
            <a:ext cx="2395728" cy="411480"/>
          </a:xfrm>
          <a:prstGeom prst="rect">
            <a:avLst/>
          </a:prstGeom>
          <a:noFill/>
          <a:ln/>
        </p:spPr>
        <p:txBody>
          <a:bodyPr wrap="square" lIns="0" tIns="0" rIns="0" bIns="0" rtlCol="0" anchor="ctr"/>
          <a:lstStyle/>
          <a:p>
            <a:pPr marL="0" indent="0">
              <a:lnSpc>
                <a:spcPct val="105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Software-based routing at line-rate performance</a:t>
            </a:r>
            <a:endParaRPr lang="en-US" sz="950" dirty="0">
              <a:latin typeface="Times New Roman" panose="02020603050405020304" pitchFamily="18" charset="0"/>
              <a:cs typeface="Times New Roman" panose="02020603050405020304" pitchFamily="18" charset="0"/>
            </a:endParaRPr>
          </a:p>
        </p:txBody>
      </p:sp>
      <p:sp>
        <p:nvSpPr>
          <p:cNvPr id="25" name="Shape 18"/>
          <p:cNvSpPr/>
          <p:nvPr/>
        </p:nvSpPr>
        <p:spPr>
          <a:xfrm>
            <a:off x="3364992" y="3255264"/>
            <a:ext cx="2688336" cy="1207008"/>
          </a:xfrm>
          <a:prstGeom prst="roundRect">
            <a:avLst>
              <a:gd name="adj" fmla="val 3788"/>
            </a:avLst>
          </a:prstGeom>
          <a:solidFill>
            <a:srgbClr val="F2F2F2"/>
          </a:solidFill>
          <a:ln w="6350">
            <a:solidFill>
              <a:srgbClr val="D9D9D9"/>
            </a:solidFill>
            <a:prstDash val="solid"/>
          </a:ln>
        </p:spPr>
      </p:sp>
      <p:pic>
        <p:nvPicPr>
          <p:cNvPr id="26" name="Image 5" descr="icons/sliders_navy.png"/>
          <p:cNvPicPr>
            <a:picLocks noChangeAspect="1"/>
          </p:cNvPicPr>
          <p:nvPr/>
        </p:nvPicPr>
        <p:blipFill>
          <a:blip r:embed="rId8"/>
          <a:stretch>
            <a:fillRect/>
          </a:stretch>
        </p:blipFill>
        <p:spPr>
          <a:xfrm>
            <a:off x="3511296" y="3401568"/>
            <a:ext cx="292608" cy="292608"/>
          </a:xfrm>
          <a:prstGeom prst="rect">
            <a:avLst/>
          </a:prstGeom>
        </p:spPr>
      </p:pic>
      <p:sp>
        <p:nvSpPr>
          <p:cNvPr id="27" name="Text 19"/>
          <p:cNvSpPr/>
          <p:nvPr/>
        </p:nvSpPr>
        <p:spPr>
          <a:xfrm>
            <a:off x="3511296" y="3758184"/>
            <a:ext cx="2395728" cy="274320"/>
          </a:xfrm>
          <a:prstGeom prst="rect">
            <a:avLst/>
          </a:prstGeom>
          <a:noFill/>
          <a:ln/>
        </p:spPr>
        <p:txBody>
          <a:bodyPr wrap="square" lIns="0" tIns="0" rIns="0" bIns="0" rtlCol="0" anchor="ctr"/>
          <a:lstStyle/>
          <a:p>
            <a:pPr marL="0" indent="0">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Load Balancers</a:t>
            </a:r>
            <a:endParaRPr lang="en-US" sz="1150" dirty="0">
              <a:latin typeface="Times New Roman" panose="02020603050405020304" pitchFamily="18" charset="0"/>
              <a:cs typeface="Times New Roman" panose="02020603050405020304" pitchFamily="18" charset="0"/>
            </a:endParaRPr>
          </a:p>
        </p:txBody>
      </p:sp>
      <p:sp>
        <p:nvSpPr>
          <p:cNvPr id="28" name="Text 20"/>
          <p:cNvSpPr/>
          <p:nvPr/>
        </p:nvSpPr>
        <p:spPr>
          <a:xfrm>
            <a:off x="3511296" y="4032504"/>
            <a:ext cx="2395728" cy="411480"/>
          </a:xfrm>
          <a:prstGeom prst="rect">
            <a:avLst/>
          </a:prstGeom>
          <a:noFill/>
          <a:ln/>
        </p:spPr>
        <p:txBody>
          <a:bodyPr wrap="square" lIns="0" tIns="0" rIns="0" bIns="0" rtlCol="0" anchor="ctr"/>
          <a:lstStyle/>
          <a:p>
            <a:pPr marL="0" indent="0">
              <a:lnSpc>
                <a:spcPct val="105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Traffic distribution across virtualized workloads</a:t>
            </a:r>
            <a:endParaRPr lang="en-US" sz="950" dirty="0">
              <a:latin typeface="Times New Roman" panose="02020603050405020304" pitchFamily="18" charset="0"/>
              <a:cs typeface="Times New Roman" panose="02020603050405020304" pitchFamily="18" charset="0"/>
            </a:endParaRPr>
          </a:p>
        </p:txBody>
      </p:sp>
      <p:sp>
        <p:nvSpPr>
          <p:cNvPr id="29" name="Shape 21"/>
          <p:cNvSpPr/>
          <p:nvPr/>
        </p:nvSpPr>
        <p:spPr>
          <a:xfrm>
            <a:off x="6181344" y="3255264"/>
            <a:ext cx="2688336" cy="1207008"/>
          </a:xfrm>
          <a:prstGeom prst="roundRect">
            <a:avLst>
              <a:gd name="adj" fmla="val 3788"/>
            </a:avLst>
          </a:prstGeom>
          <a:solidFill>
            <a:srgbClr val="F2F2F2"/>
          </a:solidFill>
          <a:ln w="6350">
            <a:solidFill>
              <a:srgbClr val="D9D9D9"/>
            </a:solidFill>
            <a:prstDash val="solid"/>
          </a:ln>
        </p:spPr>
      </p:sp>
      <p:pic>
        <p:nvPicPr>
          <p:cNvPr id="30" name="Image 6" descr="icons/mappin_navy.png"/>
          <p:cNvPicPr>
            <a:picLocks noChangeAspect="1"/>
          </p:cNvPicPr>
          <p:nvPr/>
        </p:nvPicPr>
        <p:blipFill>
          <a:blip r:embed="rId9"/>
          <a:stretch>
            <a:fillRect/>
          </a:stretch>
        </p:blipFill>
        <p:spPr>
          <a:xfrm>
            <a:off x="6327648" y="3401568"/>
            <a:ext cx="292608" cy="292608"/>
          </a:xfrm>
          <a:prstGeom prst="rect">
            <a:avLst/>
          </a:prstGeom>
        </p:spPr>
      </p:pic>
      <p:sp>
        <p:nvSpPr>
          <p:cNvPr id="31" name="Text 22"/>
          <p:cNvSpPr/>
          <p:nvPr/>
        </p:nvSpPr>
        <p:spPr>
          <a:xfrm>
            <a:off x="6327648" y="3758184"/>
            <a:ext cx="2395728" cy="274320"/>
          </a:xfrm>
          <a:prstGeom prst="rect">
            <a:avLst/>
          </a:prstGeom>
          <a:noFill/>
          <a:ln/>
        </p:spPr>
        <p:txBody>
          <a:bodyPr wrap="square" lIns="0" tIns="0" rIns="0" bIns="0" rtlCol="0" anchor="ctr"/>
          <a:lstStyle/>
          <a:p>
            <a:pPr marL="0" indent="0">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Edge Computing</a:t>
            </a:r>
            <a:endParaRPr lang="en-US" sz="1150" dirty="0">
              <a:latin typeface="Times New Roman" panose="02020603050405020304" pitchFamily="18" charset="0"/>
              <a:cs typeface="Times New Roman" panose="02020603050405020304" pitchFamily="18" charset="0"/>
            </a:endParaRPr>
          </a:p>
        </p:txBody>
      </p:sp>
      <p:sp>
        <p:nvSpPr>
          <p:cNvPr id="32" name="Text 23"/>
          <p:cNvSpPr/>
          <p:nvPr/>
        </p:nvSpPr>
        <p:spPr>
          <a:xfrm>
            <a:off x="6327648" y="4032504"/>
            <a:ext cx="2395728" cy="411480"/>
          </a:xfrm>
          <a:prstGeom prst="rect">
            <a:avLst/>
          </a:prstGeom>
          <a:noFill/>
          <a:ln/>
        </p:spPr>
        <p:txBody>
          <a:bodyPr wrap="square" lIns="0" tIns="0" rIns="0" bIns="0" rtlCol="0" anchor="ctr"/>
          <a:lstStyle/>
          <a:p>
            <a:pPr marL="0" indent="0">
              <a:lnSpc>
                <a:spcPct val="105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Low-latency VNFs deployed close to users</a:t>
            </a:r>
            <a:endParaRPr lang="en-US" sz="950" dirty="0">
              <a:latin typeface="Times New Roman" panose="02020603050405020304" pitchFamily="18" charset="0"/>
              <a:cs typeface="Times New Roman" panose="02020603050405020304" pitchFamily="18" charset="0"/>
            </a:endParaRPr>
          </a:p>
        </p:txBody>
      </p:sp>
      <p:sp>
        <p:nvSpPr>
          <p:cNvPr id="33" name="Shape 24"/>
          <p:cNvSpPr/>
          <p:nvPr/>
        </p:nvSpPr>
        <p:spPr>
          <a:xfrm>
            <a:off x="8997696" y="3255264"/>
            <a:ext cx="2688336" cy="1207008"/>
          </a:xfrm>
          <a:prstGeom prst="roundRect">
            <a:avLst>
              <a:gd name="adj" fmla="val 3788"/>
            </a:avLst>
          </a:prstGeom>
          <a:solidFill>
            <a:srgbClr val="F2F2F2"/>
          </a:solidFill>
          <a:ln w="6350">
            <a:solidFill>
              <a:srgbClr val="D9D9D9"/>
            </a:solidFill>
            <a:prstDash val="solid"/>
          </a:ln>
        </p:spPr>
      </p:sp>
      <p:pic>
        <p:nvPicPr>
          <p:cNvPr id="34" name="Image 7" descr="icons/lock_navy.png"/>
          <p:cNvPicPr>
            <a:picLocks noChangeAspect="1"/>
          </p:cNvPicPr>
          <p:nvPr/>
        </p:nvPicPr>
        <p:blipFill>
          <a:blip r:embed="rId10"/>
          <a:stretch>
            <a:fillRect/>
          </a:stretch>
        </p:blipFill>
        <p:spPr>
          <a:xfrm>
            <a:off x="9144000" y="3401568"/>
            <a:ext cx="292608" cy="292608"/>
          </a:xfrm>
          <a:prstGeom prst="rect">
            <a:avLst/>
          </a:prstGeom>
        </p:spPr>
      </p:pic>
      <p:sp>
        <p:nvSpPr>
          <p:cNvPr id="35" name="Text 25"/>
          <p:cNvSpPr/>
          <p:nvPr/>
        </p:nvSpPr>
        <p:spPr>
          <a:xfrm>
            <a:off x="9144000" y="3758184"/>
            <a:ext cx="2395728" cy="274320"/>
          </a:xfrm>
          <a:prstGeom prst="rect">
            <a:avLst/>
          </a:prstGeom>
          <a:noFill/>
          <a:ln/>
        </p:spPr>
        <p:txBody>
          <a:bodyPr wrap="square" lIns="0" tIns="0" rIns="0" bIns="0" rtlCol="0" anchor="ctr"/>
          <a:lstStyle/>
          <a:p>
            <a:pPr marL="0" indent="0">
              <a:buNone/>
            </a:pPr>
            <a:r>
              <a:rPr lang="en-US" sz="1150" b="1" dirty="0">
                <a:solidFill>
                  <a:srgbClr val="1E2761"/>
                </a:solidFill>
                <a:latin typeface="Times New Roman" panose="02020603050405020304" pitchFamily="18" charset="0"/>
                <a:ea typeface="Calibri" pitchFamily="34" charset="-122"/>
                <a:cs typeface="Times New Roman" panose="02020603050405020304" pitchFamily="18" charset="0"/>
              </a:rPr>
              <a:t>Network Security</a:t>
            </a:r>
            <a:endParaRPr lang="en-US" sz="1150" dirty="0">
              <a:latin typeface="Times New Roman" panose="02020603050405020304" pitchFamily="18" charset="0"/>
              <a:cs typeface="Times New Roman" panose="02020603050405020304" pitchFamily="18" charset="0"/>
            </a:endParaRPr>
          </a:p>
        </p:txBody>
      </p:sp>
      <p:sp>
        <p:nvSpPr>
          <p:cNvPr id="36" name="Text 26"/>
          <p:cNvSpPr/>
          <p:nvPr/>
        </p:nvSpPr>
        <p:spPr>
          <a:xfrm>
            <a:off x="9144000" y="4032504"/>
            <a:ext cx="2395728" cy="411480"/>
          </a:xfrm>
          <a:prstGeom prst="rect">
            <a:avLst/>
          </a:prstGeom>
          <a:noFill/>
          <a:ln/>
        </p:spPr>
        <p:txBody>
          <a:bodyPr wrap="square" lIns="0" tIns="0" rIns="0" bIns="0" rtlCol="0" anchor="ctr"/>
          <a:lstStyle/>
          <a:p>
            <a:pPr marL="0" indent="0">
              <a:lnSpc>
                <a:spcPct val="105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Virtualized IDS/IPS and threat inspection</a:t>
            </a:r>
            <a:endParaRPr lang="en-US" sz="950" dirty="0">
              <a:latin typeface="Times New Roman" panose="02020603050405020304" pitchFamily="18" charset="0"/>
              <a:cs typeface="Times New Roman" panose="02020603050405020304" pitchFamily="18" charset="0"/>
            </a:endParaRPr>
          </a:p>
        </p:txBody>
      </p:sp>
      <p:sp>
        <p:nvSpPr>
          <p:cNvPr id="37" name="Text 27"/>
          <p:cNvSpPr/>
          <p:nvPr/>
        </p:nvSpPr>
        <p:spPr>
          <a:xfrm>
            <a:off x="548640" y="4791456"/>
            <a:ext cx="5486400" cy="274320"/>
          </a:xfrm>
          <a:prstGeom prst="rect">
            <a:avLst/>
          </a:prstGeom>
          <a:noFill/>
          <a:ln/>
        </p:spPr>
        <p:txBody>
          <a:bodyPr wrap="square" lIns="0" tIns="0" rIns="0" bIns="0" rtlCol="0" anchor="ctr"/>
          <a:lstStyle/>
          <a:p>
            <a:pPr marL="0" indent="0">
              <a:buNone/>
            </a:pPr>
            <a:r>
              <a:rPr lang="en-US" sz="1350" b="1" dirty="0">
                <a:solidFill>
                  <a:srgbClr val="1E2761"/>
                </a:solidFill>
                <a:latin typeface="Times New Roman" panose="02020603050405020304" pitchFamily="18" charset="0"/>
                <a:ea typeface="Calibri" pitchFamily="34" charset="-122"/>
                <a:cs typeface="Times New Roman" panose="02020603050405020304" pitchFamily="18" charset="0"/>
              </a:rPr>
              <a:t>Industry Adoption</a:t>
            </a:r>
            <a:endParaRPr lang="en-US" sz="1350" dirty="0">
              <a:latin typeface="Times New Roman" panose="02020603050405020304" pitchFamily="18" charset="0"/>
              <a:cs typeface="Times New Roman" panose="02020603050405020304" pitchFamily="18" charset="0"/>
            </a:endParaRPr>
          </a:p>
        </p:txBody>
      </p:sp>
      <p:sp>
        <p:nvSpPr>
          <p:cNvPr id="38" name="Text 28"/>
          <p:cNvSpPr/>
          <p:nvPr/>
        </p:nvSpPr>
        <p:spPr>
          <a:xfrm>
            <a:off x="548640" y="5120640"/>
            <a:ext cx="1417320" cy="310896"/>
          </a:xfrm>
          <a:prstGeom prst="rect">
            <a:avLst/>
          </a:prstGeom>
          <a:noFill/>
          <a:ln/>
        </p:spPr>
        <p:txBody>
          <a:bodyPr wrap="square" lIns="0" tIns="0" rIns="0" bIns="0" rtlCol="0" anchor="ctr"/>
          <a:lstStyle/>
          <a:p>
            <a:pPr marL="0" indent="0">
              <a:buNone/>
            </a:pPr>
            <a:r>
              <a:rPr lang="en-US" sz="1050" b="1" dirty="0">
                <a:solidFill>
                  <a:srgbClr val="1E2761"/>
                </a:solidFill>
                <a:latin typeface="Times New Roman" panose="02020603050405020304" pitchFamily="18" charset="0"/>
                <a:ea typeface="Calibri" pitchFamily="34" charset="-122"/>
                <a:cs typeface="Times New Roman" panose="02020603050405020304" pitchFamily="18" charset="0"/>
              </a:rPr>
              <a:t>Cisco</a:t>
            </a:r>
            <a:endParaRPr lang="en-US" sz="1050" dirty="0">
              <a:latin typeface="Times New Roman" panose="02020603050405020304" pitchFamily="18" charset="0"/>
              <a:cs typeface="Times New Roman" panose="02020603050405020304" pitchFamily="18" charset="0"/>
            </a:endParaRPr>
          </a:p>
        </p:txBody>
      </p:sp>
      <p:sp>
        <p:nvSpPr>
          <p:cNvPr id="39" name="Text 29"/>
          <p:cNvSpPr/>
          <p:nvPr/>
        </p:nvSpPr>
        <p:spPr>
          <a:xfrm>
            <a:off x="2011680" y="5120640"/>
            <a:ext cx="4023360" cy="310896"/>
          </a:xfrm>
          <a:prstGeom prst="rect">
            <a:avLst/>
          </a:prstGeom>
          <a:noFill/>
          <a:ln/>
        </p:spPr>
        <p:txBody>
          <a:bodyPr wrap="square" lIns="0" tIns="0" rIns="0" bIns="0" rtlCol="0" anchor="ctr"/>
          <a:lstStyle/>
          <a:p>
            <a:pPr marL="0" indent="0">
              <a:lnSpc>
                <a:spcPct val="100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Enterprise NFV and SD-WAN platforms for automated branch networking</a:t>
            </a:r>
            <a:endParaRPr lang="en-US" sz="950" dirty="0">
              <a:latin typeface="Times New Roman" panose="02020603050405020304" pitchFamily="18" charset="0"/>
              <a:cs typeface="Times New Roman" panose="02020603050405020304" pitchFamily="18" charset="0"/>
            </a:endParaRPr>
          </a:p>
        </p:txBody>
      </p:sp>
      <p:sp>
        <p:nvSpPr>
          <p:cNvPr id="40" name="Text 30"/>
          <p:cNvSpPr/>
          <p:nvPr/>
        </p:nvSpPr>
        <p:spPr>
          <a:xfrm>
            <a:off x="548640" y="5431536"/>
            <a:ext cx="1417320" cy="310896"/>
          </a:xfrm>
          <a:prstGeom prst="rect">
            <a:avLst/>
          </a:prstGeom>
          <a:noFill/>
          <a:ln/>
        </p:spPr>
        <p:txBody>
          <a:bodyPr wrap="square" lIns="0" tIns="0" rIns="0" bIns="0" rtlCol="0" anchor="ctr"/>
          <a:lstStyle/>
          <a:p>
            <a:pPr marL="0" indent="0">
              <a:buNone/>
            </a:pPr>
            <a:r>
              <a:rPr lang="en-US" sz="1050" b="1" dirty="0">
                <a:solidFill>
                  <a:srgbClr val="1E2761"/>
                </a:solidFill>
                <a:latin typeface="Times New Roman" panose="02020603050405020304" pitchFamily="18" charset="0"/>
                <a:ea typeface="Calibri" pitchFamily="34" charset="-122"/>
                <a:cs typeface="Times New Roman" panose="02020603050405020304" pitchFamily="18" charset="0"/>
              </a:rPr>
              <a:t>Nokia</a:t>
            </a:r>
            <a:endParaRPr lang="en-US" sz="1050" dirty="0">
              <a:latin typeface="Times New Roman" panose="02020603050405020304" pitchFamily="18" charset="0"/>
              <a:cs typeface="Times New Roman" panose="02020603050405020304" pitchFamily="18" charset="0"/>
            </a:endParaRPr>
          </a:p>
        </p:txBody>
      </p:sp>
      <p:sp>
        <p:nvSpPr>
          <p:cNvPr id="41" name="Text 31"/>
          <p:cNvSpPr/>
          <p:nvPr/>
        </p:nvSpPr>
        <p:spPr>
          <a:xfrm>
            <a:off x="2011680" y="5431536"/>
            <a:ext cx="4023360" cy="310896"/>
          </a:xfrm>
          <a:prstGeom prst="rect">
            <a:avLst/>
          </a:prstGeom>
          <a:noFill/>
          <a:ln/>
        </p:spPr>
        <p:txBody>
          <a:bodyPr wrap="square" lIns="0" tIns="0" rIns="0" bIns="0" rtlCol="0" anchor="ctr"/>
          <a:lstStyle/>
          <a:p>
            <a:pPr marL="0" indent="0">
              <a:lnSpc>
                <a:spcPct val="100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CloudBand NFV platform for telco-grade virtualization</a:t>
            </a:r>
            <a:endParaRPr lang="en-US" sz="950" dirty="0">
              <a:latin typeface="Times New Roman" panose="02020603050405020304" pitchFamily="18" charset="0"/>
              <a:cs typeface="Times New Roman" panose="02020603050405020304" pitchFamily="18" charset="0"/>
            </a:endParaRPr>
          </a:p>
        </p:txBody>
      </p:sp>
      <p:sp>
        <p:nvSpPr>
          <p:cNvPr id="42" name="Text 32"/>
          <p:cNvSpPr/>
          <p:nvPr/>
        </p:nvSpPr>
        <p:spPr>
          <a:xfrm>
            <a:off x="548640" y="5742432"/>
            <a:ext cx="1417320" cy="310896"/>
          </a:xfrm>
          <a:prstGeom prst="rect">
            <a:avLst/>
          </a:prstGeom>
          <a:noFill/>
          <a:ln/>
        </p:spPr>
        <p:txBody>
          <a:bodyPr wrap="square" lIns="0" tIns="0" rIns="0" bIns="0" rtlCol="0" anchor="ctr"/>
          <a:lstStyle/>
          <a:p>
            <a:pPr marL="0" indent="0">
              <a:buNone/>
            </a:pPr>
            <a:r>
              <a:rPr lang="en-US" sz="1050" b="1" dirty="0">
                <a:solidFill>
                  <a:srgbClr val="1E2761"/>
                </a:solidFill>
                <a:latin typeface="Times New Roman" panose="02020603050405020304" pitchFamily="18" charset="0"/>
                <a:ea typeface="Calibri" pitchFamily="34" charset="-122"/>
                <a:cs typeface="Times New Roman" panose="02020603050405020304" pitchFamily="18" charset="0"/>
              </a:rPr>
              <a:t>Ericsson</a:t>
            </a:r>
            <a:endParaRPr lang="en-US" sz="1050" dirty="0">
              <a:latin typeface="Times New Roman" panose="02020603050405020304" pitchFamily="18" charset="0"/>
              <a:cs typeface="Times New Roman" panose="02020603050405020304" pitchFamily="18" charset="0"/>
            </a:endParaRPr>
          </a:p>
        </p:txBody>
      </p:sp>
      <p:sp>
        <p:nvSpPr>
          <p:cNvPr id="43" name="Text 33"/>
          <p:cNvSpPr/>
          <p:nvPr/>
        </p:nvSpPr>
        <p:spPr>
          <a:xfrm>
            <a:off x="2011680" y="5742432"/>
            <a:ext cx="4023360" cy="310896"/>
          </a:xfrm>
          <a:prstGeom prst="rect">
            <a:avLst/>
          </a:prstGeom>
          <a:noFill/>
          <a:ln/>
        </p:spPr>
        <p:txBody>
          <a:bodyPr wrap="square" lIns="0" tIns="0" rIns="0" bIns="0" rtlCol="0" anchor="ctr"/>
          <a:lstStyle/>
          <a:p>
            <a:pPr marL="0" indent="0">
              <a:lnSpc>
                <a:spcPct val="100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Cloud-native 5G core and dual-mode packet core</a:t>
            </a:r>
            <a:endParaRPr lang="en-US" sz="950" dirty="0">
              <a:latin typeface="Times New Roman" panose="02020603050405020304" pitchFamily="18" charset="0"/>
              <a:cs typeface="Times New Roman" panose="02020603050405020304" pitchFamily="18" charset="0"/>
            </a:endParaRPr>
          </a:p>
        </p:txBody>
      </p:sp>
      <p:sp>
        <p:nvSpPr>
          <p:cNvPr id="44" name="Text 34"/>
          <p:cNvSpPr/>
          <p:nvPr/>
        </p:nvSpPr>
        <p:spPr>
          <a:xfrm>
            <a:off x="548640" y="6053328"/>
            <a:ext cx="1417320" cy="310896"/>
          </a:xfrm>
          <a:prstGeom prst="rect">
            <a:avLst/>
          </a:prstGeom>
          <a:noFill/>
          <a:ln/>
        </p:spPr>
        <p:txBody>
          <a:bodyPr wrap="square" lIns="0" tIns="0" rIns="0" bIns="0" rtlCol="0" anchor="ctr"/>
          <a:lstStyle/>
          <a:p>
            <a:pPr marL="0" indent="0">
              <a:buNone/>
            </a:pPr>
            <a:r>
              <a:rPr lang="en-US" sz="1050" b="1" dirty="0">
                <a:solidFill>
                  <a:srgbClr val="1E2761"/>
                </a:solidFill>
                <a:latin typeface="Times New Roman" panose="02020603050405020304" pitchFamily="18" charset="0"/>
                <a:ea typeface="Calibri" pitchFamily="34" charset="-122"/>
                <a:cs typeface="Times New Roman" panose="02020603050405020304" pitchFamily="18" charset="0"/>
              </a:rPr>
              <a:t>AWS</a:t>
            </a:r>
            <a:endParaRPr lang="en-US" sz="1050" dirty="0">
              <a:latin typeface="Times New Roman" panose="02020603050405020304" pitchFamily="18" charset="0"/>
              <a:cs typeface="Times New Roman" panose="02020603050405020304" pitchFamily="18" charset="0"/>
            </a:endParaRPr>
          </a:p>
        </p:txBody>
      </p:sp>
      <p:sp>
        <p:nvSpPr>
          <p:cNvPr id="45" name="Text 35"/>
          <p:cNvSpPr/>
          <p:nvPr/>
        </p:nvSpPr>
        <p:spPr>
          <a:xfrm>
            <a:off x="2011680" y="6053328"/>
            <a:ext cx="4023360" cy="310896"/>
          </a:xfrm>
          <a:prstGeom prst="rect">
            <a:avLst/>
          </a:prstGeom>
          <a:noFill/>
          <a:ln/>
        </p:spPr>
        <p:txBody>
          <a:bodyPr wrap="square" lIns="0" tIns="0" rIns="0" bIns="0" rtlCol="0" anchor="ctr"/>
          <a:lstStyle/>
          <a:p>
            <a:pPr marL="0" indent="0">
              <a:lnSpc>
                <a:spcPct val="100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Elastic infrastructure hosting virtualized network workloads</a:t>
            </a:r>
            <a:endParaRPr lang="en-US" sz="950" dirty="0">
              <a:latin typeface="Times New Roman" panose="02020603050405020304" pitchFamily="18" charset="0"/>
              <a:cs typeface="Times New Roman" panose="02020603050405020304" pitchFamily="18" charset="0"/>
            </a:endParaRPr>
          </a:p>
        </p:txBody>
      </p:sp>
      <p:sp>
        <p:nvSpPr>
          <p:cNvPr id="46" name="Text 36"/>
          <p:cNvSpPr/>
          <p:nvPr/>
        </p:nvSpPr>
        <p:spPr>
          <a:xfrm>
            <a:off x="6355080" y="5120640"/>
            <a:ext cx="1417320" cy="310896"/>
          </a:xfrm>
          <a:prstGeom prst="rect">
            <a:avLst/>
          </a:prstGeom>
          <a:noFill/>
          <a:ln/>
        </p:spPr>
        <p:txBody>
          <a:bodyPr wrap="square" lIns="0" tIns="0" rIns="0" bIns="0" rtlCol="0" anchor="ctr"/>
          <a:lstStyle/>
          <a:p>
            <a:pPr marL="0" indent="0">
              <a:buNone/>
            </a:pPr>
            <a:r>
              <a:rPr lang="en-US" sz="1050" b="1" dirty="0">
                <a:solidFill>
                  <a:srgbClr val="1E2761"/>
                </a:solidFill>
                <a:latin typeface="Times New Roman" panose="02020603050405020304" pitchFamily="18" charset="0"/>
                <a:ea typeface="Calibri" pitchFamily="34" charset="-122"/>
                <a:cs typeface="Times New Roman" panose="02020603050405020304" pitchFamily="18" charset="0"/>
              </a:rPr>
              <a:t>Microsoft Azure</a:t>
            </a:r>
            <a:endParaRPr lang="en-US" sz="1050" dirty="0">
              <a:latin typeface="Times New Roman" panose="02020603050405020304" pitchFamily="18" charset="0"/>
              <a:cs typeface="Times New Roman" panose="02020603050405020304" pitchFamily="18" charset="0"/>
            </a:endParaRPr>
          </a:p>
        </p:txBody>
      </p:sp>
      <p:sp>
        <p:nvSpPr>
          <p:cNvPr id="47" name="Text 37"/>
          <p:cNvSpPr/>
          <p:nvPr/>
        </p:nvSpPr>
        <p:spPr>
          <a:xfrm>
            <a:off x="7818120" y="5120640"/>
            <a:ext cx="4023360" cy="310896"/>
          </a:xfrm>
          <a:prstGeom prst="rect">
            <a:avLst/>
          </a:prstGeom>
          <a:noFill/>
          <a:ln/>
        </p:spPr>
        <p:txBody>
          <a:bodyPr wrap="square" lIns="0" tIns="0" rIns="0" bIns="0" rtlCol="0" anchor="ctr"/>
          <a:lstStyle/>
          <a:p>
            <a:pPr marL="0" indent="0">
              <a:lnSpc>
                <a:spcPct val="100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Azure Operator Nexus for hybrid telco cloud</a:t>
            </a:r>
            <a:endParaRPr lang="en-US" sz="950" dirty="0">
              <a:latin typeface="Times New Roman" panose="02020603050405020304" pitchFamily="18" charset="0"/>
              <a:cs typeface="Times New Roman" panose="02020603050405020304" pitchFamily="18" charset="0"/>
            </a:endParaRPr>
          </a:p>
        </p:txBody>
      </p:sp>
      <p:sp>
        <p:nvSpPr>
          <p:cNvPr id="48" name="Text 38"/>
          <p:cNvSpPr/>
          <p:nvPr/>
        </p:nvSpPr>
        <p:spPr>
          <a:xfrm>
            <a:off x="6355080" y="5431536"/>
            <a:ext cx="1417320" cy="310896"/>
          </a:xfrm>
          <a:prstGeom prst="rect">
            <a:avLst/>
          </a:prstGeom>
          <a:noFill/>
          <a:ln/>
        </p:spPr>
        <p:txBody>
          <a:bodyPr wrap="square" lIns="0" tIns="0" rIns="0" bIns="0" rtlCol="0" anchor="ctr"/>
          <a:lstStyle/>
          <a:p>
            <a:pPr marL="0" indent="0">
              <a:buNone/>
            </a:pPr>
            <a:r>
              <a:rPr lang="en-US" sz="1050" b="1" dirty="0">
                <a:solidFill>
                  <a:srgbClr val="1E2761"/>
                </a:solidFill>
                <a:latin typeface="Times New Roman" panose="02020603050405020304" pitchFamily="18" charset="0"/>
                <a:ea typeface="Calibri" pitchFamily="34" charset="-122"/>
                <a:cs typeface="Times New Roman" panose="02020603050405020304" pitchFamily="18" charset="0"/>
              </a:rPr>
              <a:t>Google Cloud</a:t>
            </a:r>
            <a:endParaRPr lang="en-US" sz="1050" dirty="0">
              <a:latin typeface="Times New Roman" panose="02020603050405020304" pitchFamily="18" charset="0"/>
              <a:cs typeface="Times New Roman" panose="02020603050405020304" pitchFamily="18" charset="0"/>
            </a:endParaRPr>
          </a:p>
        </p:txBody>
      </p:sp>
      <p:sp>
        <p:nvSpPr>
          <p:cNvPr id="49" name="Text 39"/>
          <p:cNvSpPr/>
          <p:nvPr/>
        </p:nvSpPr>
        <p:spPr>
          <a:xfrm>
            <a:off x="7818120" y="5431536"/>
            <a:ext cx="4023360" cy="310896"/>
          </a:xfrm>
          <a:prstGeom prst="rect">
            <a:avLst/>
          </a:prstGeom>
          <a:noFill/>
          <a:ln/>
        </p:spPr>
        <p:txBody>
          <a:bodyPr wrap="square" lIns="0" tIns="0" rIns="0" bIns="0" rtlCol="0" anchor="ctr"/>
          <a:lstStyle/>
          <a:p>
            <a:pPr marL="0" indent="0">
              <a:lnSpc>
                <a:spcPct val="100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Telecom-grade Kubernetes for network functions</a:t>
            </a:r>
            <a:endParaRPr lang="en-US" sz="950" dirty="0">
              <a:latin typeface="Times New Roman" panose="02020603050405020304" pitchFamily="18" charset="0"/>
              <a:cs typeface="Times New Roman" panose="02020603050405020304" pitchFamily="18" charset="0"/>
            </a:endParaRPr>
          </a:p>
        </p:txBody>
      </p:sp>
      <p:sp>
        <p:nvSpPr>
          <p:cNvPr id="50" name="Text 40"/>
          <p:cNvSpPr/>
          <p:nvPr/>
        </p:nvSpPr>
        <p:spPr>
          <a:xfrm>
            <a:off x="6355080" y="5742432"/>
            <a:ext cx="1417320" cy="310896"/>
          </a:xfrm>
          <a:prstGeom prst="rect">
            <a:avLst/>
          </a:prstGeom>
          <a:noFill/>
          <a:ln/>
        </p:spPr>
        <p:txBody>
          <a:bodyPr wrap="square" lIns="0" tIns="0" rIns="0" bIns="0" rtlCol="0" anchor="ctr"/>
          <a:lstStyle/>
          <a:p>
            <a:pPr marL="0" indent="0">
              <a:buNone/>
            </a:pPr>
            <a:r>
              <a:rPr lang="en-US" sz="1050" b="1" dirty="0">
                <a:solidFill>
                  <a:srgbClr val="1E2761"/>
                </a:solidFill>
                <a:latin typeface="Times New Roman" panose="02020603050405020304" pitchFamily="18" charset="0"/>
                <a:ea typeface="Calibri" pitchFamily="34" charset="-122"/>
                <a:cs typeface="Times New Roman" panose="02020603050405020304" pitchFamily="18" charset="0"/>
              </a:rPr>
              <a:t>VMware</a:t>
            </a:r>
            <a:endParaRPr lang="en-US" sz="1050" dirty="0">
              <a:latin typeface="Times New Roman" panose="02020603050405020304" pitchFamily="18" charset="0"/>
              <a:cs typeface="Times New Roman" panose="02020603050405020304" pitchFamily="18" charset="0"/>
            </a:endParaRPr>
          </a:p>
        </p:txBody>
      </p:sp>
      <p:sp>
        <p:nvSpPr>
          <p:cNvPr id="51" name="Text 41"/>
          <p:cNvSpPr/>
          <p:nvPr/>
        </p:nvSpPr>
        <p:spPr>
          <a:xfrm>
            <a:off x="7818120" y="5742432"/>
            <a:ext cx="4023360" cy="310896"/>
          </a:xfrm>
          <a:prstGeom prst="rect">
            <a:avLst/>
          </a:prstGeom>
          <a:noFill/>
          <a:ln/>
        </p:spPr>
        <p:txBody>
          <a:bodyPr wrap="square" lIns="0" tIns="0" rIns="0" bIns="0" rtlCol="0" anchor="ctr"/>
          <a:lstStyle/>
          <a:p>
            <a:pPr marL="0" indent="0">
              <a:lnSpc>
                <a:spcPct val="100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Telco Cloud Platform for VNF/CNF lifecycle management</a:t>
            </a:r>
            <a:endParaRPr lang="en-US" sz="950" dirty="0">
              <a:latin typeface="Times New Roman" panose="02020603050405020304" pitchFamily="18" charset="0"/>
              <a:cs typeface="Times New Roman" panose="02020603050405020304" pitchFamily="18" charset="0"/>
            </a:endParaRPr>
          </a:p>
        </p:txBody>
      </p:sp>
      <p:sp>
        <p:nvSpPr>
          <p:cNvPr id="52" name="Text 42"/>
          <p:cNvSpPr/>
          <p:nvPr/>
        </p:nvSpPr>
        <p:spPr>
          <a:xfrm>
            <a:off x="6355080" y="6053328"/>
            <a:ext cx="1417320" cy="310896"/>
          </a:xfrm>
          <a:prstGeom prst="rect">
            <a:avLst/>
          </a:prstGeom>
          <a:noFill/>
          <a:ln/>
        </p:spPr>
        <p:txBody>
          <a:bodyPr wrap="square" lIns="0" tIns="0" rIns="0" bIns="0" rtlCol="0" anchor="ctr"/>
          <a:lstStyle/>
          <a:p>
            <a:pPr marL="0" indent="0">
              <a:buNone/>
            </a:pPr>
            <a:r>
              <a:rPr lang="en-US" sz="1050" b="1" dirty="0">
                <a:solidFill>
                  <a:srgbClr val="1E2761"/>
                </a:solidFill>
                <a:latin typeface="Times New Roman" panose="02020603050405020304" pitchFamily="18" charset="0"/>
                <a:ea typeface="Calibri" pitchFamily="34" charset="-122"/>
                <a:cs typeface="Times New Roman" panose="02020603050405020304" pitchFamily="18" charset="0"/>
              </a:rPr>
              <a:t>Red Hat</a:t>
            </a:r>
            <a:endParaRPr lang="en-US" sz="1050" dirty="0">
              <a:latin typeface="Times New Roman" panose="02020603050405020304" pitchFamily="18" charset="0"/>
              <a:cs typeface="Times New Roman" panose="02020603050405020304" pitchFamily="18" charset="0"/>
            </a:endParaRPr>
          </a:p>
        </p:txBody>
      </p:sp>
      <p:sp>
        <p:nvSpPr>
          <p:cNvPr id="53" name="Text 43"/>
          <p:cNvSpPr/>
          <p:nvPr/>
        </p:nvSpPr>
        <p:spPr>
          <a:xfrm>
            <a:off x="7818120" y="6053328"/>
            <a:ext cx="4023360" cy="310896"/>
          </a:xfrm>
          <a:prstGeom prst="rect">
            <a:avLst/>
          </a:prstGeom>
          <a:noFill/>
          <a:ln/>
        </p:spPr>
        <p:txBody>
          <a:bodyPr wrap="square" lIns="0" tIns="0" rIns="0" bIns="0" rtlCol="0" anchor="ctr"/>
          <a:lstStyle/>
          <a:p>
            <a:pPr marL="0" indent="0">
              <a:lnSpc>
                <a:spcPct val="100000"/>
              </a:lnSpc>
              <a:buNone/>
            </a:pPr>
            <a:r>
              <a:rPr lang="en-US" sz="950" dirty="0">
                <a:solidFill>
                  <a:srgbClr val="1A1A1A"/>
                </a:solidFill>
                <a:latin typeface="Times New Roman" panose="02020603050405020304" pitchFamily="18" charset="0"/>
                <a:ea typeface="Calibri" pitchFamily="34" charset="-122"/>
                <a:cs typeface="Times New Roman" panose="02020603050405020304" pitchFamily="18" charset="0"/>
              </a:rPr>
              <a:t>OpenShift and OpenStack for carrier-grade NFV deployment</a:t>
            </a:r>
            <a:endParaRPr lang="en-US" sz="950" dirty="0">
              <a:latin typeface="Times New Roman" panose="02020603050405020304" pitchFamily="18" charset="0"/>
              <a:cs typeface="Times New Roman" panose="02020603050405020304" pitchFamily="18" charset="0"/>
            </a:endParaRPr>
          </a:p>
        </p:txBody>
      </p:sp>
      <p:sp>
        <p:nvSpPr>
          <p:cNvPr id="55" name="Text 45"/>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1064240" cy="640080"/>
          </a:xfrm>
          <a:prstGeom prst="rect">
            <a:avLst/>
          </a:prstGeom>
          <a:noFill/>
          <a:ln/>
        </p:spPr>
        <p:txBody>
          <a:bodyPr wrap="square" lIns="0" tIns="0" rIns="0" bIns="0" rtlCol="0" anchor="ctr"/>
          <a:lstStyle/>
          <a:p>
            <a:pPr marL="0" indent="0" algn="ctr">
              <a:buNone/>
            </a:pPr>
            <a:r>
              <a:rPr lang="en-US" sz="2600" b="1" dirty="0">
                <a:solidFill>
                  <a:srgbClr val="1E2761"/>
                </a:solidFill>
                <a:latin typeface="Times New Roman" panose="02020603050405020304" pitchFamily="18" charset="0"/>
                <a:ea typeface="Calibri" pitchFamily="34" charset="-122"/>
                <a:cs typeface="Times New Roman" panose="02020603050405020304" pitchFamily="18" charset="0"/>
              </a:rPr>
              <a:t>Benefits, Challenges, and Future Research</a:t>
            </a:r>
            <a:endParaRPr lang="en-US" sz="26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600200"/>
            <a:ext cx="3611880" cy="4709160"/>
          </a:xfrm>
          <a:prstGeom prst="roundRect">
            <a:avLst>
              <a:gd name="adj" fmla="val 1519"/>
            </a:avLst>
          </a:prstGeom>
          <a:solidFill>
            <a:srgbClr val="F2F2F2"/>
          </a:solidFill>
          <a:ln w="6350">
            <a:solidFill>
              <a:srgbClr val="D9D9D9"/>
            </a:solidFill>
            <a:prstDash val="solid"/>
          </a:ln>
        </p:spPr>
      </p:sp>
      <p:pic>
        <p:nvPicPr>
          <p:cNvPr id="5" name="Image 0" descr="icons/checkcircle_navy.png"/>
          <p:cNvPicPr>
            <a:picLocks noChangeAspect="1"/>
          </p:cNvPicPr>
          <p:nvPr/>
        </p:nvPicPr>
        <p:blipFill>
          <a:blip r:embed="rId3"/>
          <a:stretch>
            <a:fillRect/>
          </a:stretch>
        </p:blipFill>
        <p:spPr>
          <a:xfrm>
            <a:off x="804672" y="1856232"/>
            <a:ext cx="384048" cy="384048"/>
          </a:xfrm>
          <a:prstGeom prst="rect">
            <a:avLst/>
          </a:prstGeom>
        </p:spPr>
      </p:pic>
      <p:sp>
        <p:nvSpPr>
          <p:cNvPr id="6" name="Text 3"/>
          <p:cNvSpPr/>
          <p:nvPr/>
        </p:nvSpPr>
        <p:spPr>
          <a:xfrm>
            <a:off x="1325880" y="1856232"/>
            <a:ext cx="2606040" cy="384048"/>
          </a:xfrm>
          <a:prstGeom prst="rect">
            <a:avLst/>
          </a:prstGeom>
          <a:noFill/>
          <a:ln/>
        </p:spPr>
        <p:txBody>
          <a:bodyPr wrap="square" lIns="0" tIns="0" rIns="0" bIns="0"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Benefits</a:t>
            </a:r>
            <a:endParaRPr lang="en-US" sz="1500" dirty="0">
              <a:latin typeface="Times New Roman" panose="02020603050405020304" pitchFamily="18" charset="0"/>
              <a:cs typeface="Times New Roman" panose="02020603050405020304" pitchFamily="18" charset="0"/>
            </a:endParaRPr>
          </a:p>
        </p:txBody>
      </p:sp>
      <p:sp>
        <p:nvSpPr>
          <p:cNvPr id="7" name="Shape 4"/>
          <p:cNvSpPr/>
          <p:nvPr/>
        </p:nvSpPr>
        <p:spPr>
          <a:xfrm>
            <a:off x="804672" y="2551176"/>
            <a:ext cx="50292" cy="50292"/>
          </a:xfrm>
          <a:prstGeom prst="ellipse">
            <a:avLst/>
          </a:prstGeom>
          <a:solidFill>
            <a:srgbClr val="1E2761"/>
          </a:solidFill>
          <a:ln/>
        </p:spPr>
      </p:sp>
      <p:sp>
        <p:nvSpPr>
          <p:cNvPr id="8" name="Text 5"/>
          <p:cNvSpPr/>
          <p:nvPr/>
        </p:nvSpPr>
        <p:spPr>
          <a:xfrm>
            <a:off x="987552" y="242316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Scalability</a:t>
            </a:r>
            <a:endParaRPr lang="en-US" sz="1200" dirty="0">
              <a:latin typeface="Times New Roman" panose="02020603050405020304" pitchFamily="18" charset="0"/>
              <a:cs typeface="Times New Roman" panose="02020603050405020304" pitchFamily="18" charset="0"/>
            </a:endParaRPr>
          </a:p>
        </p:txBody>
      </p:sp>
      <p:sp>
        <p:nvSpPr>
          <p:cNvPr id="9" name="Shape 6"/>
          <p:cNvSpPr/>
          <p:nvPr/>
        </p:nvSpPr>
        <p:spPr>
          <a:xfrm>
            <a:off x="804672" y="3054096"/>
            <a:ext cx="50292" cy="50292"/>
          </a:xfrm>
          <a:prstGeom prst="ellipse">
            <a:avLst/>
          </a:prstGeom>
          <a:solidFill>
            <a:srgbClr val="1E2761"/>
          </a:solidFill>
          <a:ln/>
        </p:spPr>
      </p:sp>
      <p:sp>
        <p:nvSpPr>
          <p:cNvPr id="10" name="Text 7"/>
          <p:cNvSpPr/>
          <p:nvPr/>
        </p:nvSpPr>
        <p:spPr>
          <a:xfrm>
            <a:off x="987552" y="292608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Flexibility</a:t>
            </a:r>
            <a:endParaRPr lang="en-US" sz="1200" dirty="0">
              <a:latin typeface="Times New Roman" panose="02020603050405020304" pitchFamily="18" charset="0"/>
              <a:cs typeface="Times New Roman" panose="02020603050405020304" pitchFamily="18" charset="0"/>
            </a:endParaRPr>
          </a:p>
        </p:txBody>
      </p:sp>
      <p:sp>
        <p:nvSpPr>
          <p:cNvPr id="11" name="Shape 8"/>
          <p:cNvSpPr/>
          <p:nvPr/>
        </p:nvSpPr>
        <p:spPr>
          <a:xfrm>
            <a:off x="804672" y="3557016"/>
            <a:ext cx="50292" cy="50292"/>
          </a:xfrm>
          <a:prstGeom prst="ellipse">
            <a:avLst/>
          </a:prstGeom>
          <a:solidFill>
            <a:srgbClr val="1E2761"/>
          </a:solidFill>
          <a:ln/>
        </p:spPr>
      </p:sp>
      <p:sp>
        <p:nvSpPr>
          <p:cNvPr id="12" name="Text 9"/>
          <p:cNvSpPr/>
          <p:nvPr/>
        </p:nvSpPr>
        <p:spPr>
          <a:xfrm>
            <a:off x="987552" y="342900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Reduced CAPEX</a:t>
            </a:r>
            <a:endParaRPr lang="en-US" sz="1200" dirty="0">
              <a:latin typeface="Times New Roman" panose="02020603050405020304" pitchFamily="18" charset="0"/>
              <a:cs typeface="Times New Roman" panose="02020603050405020304" pitchFamily="18" charset="0"/>
            </a:endParaRPr>
          </a:p>
        </p:txBody>
      </p:sp>
      <p:sp>
        <p:nvSpPr>
          <p:cNvPr id="13" name="Shape 10"/>
          <p:cNvSpPr/>
          <p:nvPr/>
        </p:nvSpPr>
        <p:spPr>
          <a:xfrm>
            <a:off x="804672" y="4059936"/>
            <a:ext cx="50292" cy="50292"/>
          </a:xfrm>
          <a:prstGeom prst="ellipse">
            <a:avLst/>
          </a:prstGeom>
          <a:solidFill>
            <a:srgbClr val="1E2761"/>
          </a:solidFill>
          <a:ln/>
        </p:spPr>
      </p:sp>
      <p:sp>
        <p:nvSpPr>
          <p:cNvPr id="14" name="Text 11"/>
          <p:cNvSpPr/>
          <p:nvPr/>
        </p:nvSpPr>
        <p:spPr>
          <a:xfrm>
            <a:off x="987552" y="393192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Reduced OPEX</a:t>
            </a:r>
            <a:endParaRPr lang="en-US" sz="1200" dirty="0">
              <a:latin typeface="Times New Roman" panose="02020603050405020304" pitchFamily="18" charset="0"/>
              <a:cs typeface="Times New Roman" panose="02020603050405020304" pitchFamily="18" charset="0"/>
            </a:endParaRPr>
          </a:p>
        </p:txBody>
      </p:sp>
      <p:sp>
        <p:nvSpPr>
          <p:cNvPr id="15" name="Shape 12"/>
          <p:cNvSpPr/>
          <p:nvPr/>
        </p:nvSpPr>
        <p:spPr>
          <a:xfrm>
            <a:off x="804672" y="4562856"/>
            <a:ext cx="50292" cy="50292"/>
          </a:xfrm>
          <a:prstGeom prst="ellipse">
            <a:avLst/>
          </a:prstGeom>
          <a:solidFill>
            <a:srgbClr val="1E2761"/>
          </a:solidFill>
          <a:ln/>
        </p:spPr>
      </p:sp>
      <p:sp>
        <p:nvSpPr>
          <p:cNvPr id="16" name="Text 13"/>
          <p:cNvSpPr/>
          <p:nvPr/>
        </p:nvSpPr>
        <p:spPr>
          <a:xfrm>
            <a:off x="987552" y="443484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Faster deployment</a:t>
            </a:r>
            <a:endParaRPr lang="en-US" sz="1200" dirty="0">
              <a:latin typeface="Times New Roman" panose="02020603050405020304" pitchFamily="18" charset="0"/>
              <a:cs typeface="Times New Roman" panose="02020603050405020304" pitchFamily="18" charset="0"/>
            </a:endParaRPr>
          </a:p>
        </p:txBody>
      </p:sp>
      <p:sp>
        <p:nvSpPr>
          <p:cNvPr id="17" name="Shape 14"/>
          <p:cNvSpPr/>
          <p:nvPr/>
        </p:nvSpPr>
        <p:spPr>
          <a:xfrm>
            <a:off x="804672" y="5065776"/>
            <a:ext cx="50292" cy="50292"/>
          </a:xfrm>
          <a:prstGeom prst="ellipse">
            <a:avLst/>
          </a:prstGeom>
          <a:solidFill>
            <a:srgbClr val="1E2761"/>
          </a:solidFill>
          <a:ln/>
        </p:spPr>
      </p:sp>
      <p:sp>
        <p:nvSpPr>
          <p:cNvPr id="18" name="Text 15"/>
          <p:cNvSpPr/>
          <p:nvPr/>
        </p:nvSpPr>
        <p:spPr>
          <a:xfrm>
            <a:off x="987552" y="493776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Automation</a:t>
            </a:r>
            <a:endParaRPr lang="en-US" sz="1200" dirty="0">
              <a:latin typeface="Times New Roman" panose="02020603050405020304" pitchFamily="18" charset="0"/>
              <a:cs typeface="Times New Roman" panose="02020603050405020304" pitchFamily="18" charset="0"/>
            </a:endParaRPr>
          </a:p>
        </p:txBody>
      </p:sp>
      <p:sp>
        <p:nvSpPr>
          <p:cNvPr id="19" name="Shape 16"/>
          <p:cNvSpPr/>
          <p:nvPr/>
        </p:nvSpPr>
        <p:spPr>
          <a:xfrm>
            <a:off x="804672" y="5568696"/>
            <a:ext cx="50292" cy="50292"/>
          </a:xfrm>
          <a:prstGeom prst="ellipse">
            <a:avLst/>
          </a:prstGeom>
          <a:solidFill>
            <a:srgbClr val="1E2761"/>
          </a:solidFill>
          <a:ln/>
        </p:spPr>
      </p:sp>
      <p:sp>
        <p:nvSpPr>
          <p:cNvPr id="20" name="Text 17"/>
          <p:cNvSpPr/>
          <p:nvPr/>
        </p:nvSpPr>
        <p:spPr>
          <a:xfrm>
            <a:off x="987552" y="544068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Resource optimization</a:t>
            </a:r>
            <a:endParaRPr lang="en-US" sz="1200" dirty="0">
              <a:latin typeface="Times New Roman" panose="02020603050405020304" pitchFamily="18" charset="0"/>
              <a:cs typeface="Times New Roman" panose="02020603050405020304" pitchFamily="18" charset="0"/>
            </a:endParaRPr>
          </a:p>
        </p:txBody>
      </p:sp>
      <p:sp>
        <p:nvSpPr>
          <p:cNvPr id="21" name="Shape 18"/>
          <p:cNvSpPr/>
          <p:nvPr/>
        </p:nvSpPr>
        <p:spPr>
          <a:xfrm>
            <a:off x="4379976" y="1600200"/>
            <a:ext cx="3611880" cy="4709160"/>
          </a:xfrm>
          <a:prstGeom prst="roundRect">
            <a:avLst>
              <a:gd name="adj" fmla="val 1519"/>
            </a:avLst>
          </a:prstGeom>
          <a:solidFill>
            <a:srgbClr val="1E2761"/>
          </a:solidFill>
          <a:ln/>
        </p:spPr>
      </p:sp>
      <p:pic>
        <p:nvPicPr>
          <p:cNvPr id="22" name="Image 1" descr="icons/alerttriangle_white.png"/>
          <p:cNvPicPr>
            <a:picLocks noChangeAspect="1"/>
          </p:cNvPicPr>
          <p:nvPr/>
        </p:nvPicPr>
        <p:blipFill>
          <a:blip r:embed="rId4"/>
          <a:stretch>
            <a:fillRect/>
          </a:stretch>
        </p:blipFill>
        <p:spPr>
          <a:xfrm>
            <a:off x="4636008" y="1856232"/>
            <a:ext cx="384048" cy="384048"/>
          </a:xfrm>
          <a:prstGeom prst="rect">
            <a:avLst/>
          </a:prstGeom>
        </p:spPr>
      </p:pic>
      <p:sp>
        <p:nvSpPr>
          <p:cNvPr id="23" name="Text 19"/>
          <p:cNvSpPr/>
          <p:nvPr/>
        </p:nvSpPr>
        <p:spPr>
          <a:xfrm>
            <a:off x="5157216" y="1856232"/>
            <a:ext cx="2606040" cy="384048"/>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Challenges</a:t>
            </a:r>
            <a:endParaRPr lang="en-US" sz="1500" dirty="0">
              <a:latin typeface="Times New Roman" panose="02020603050405020304" pitchFamily="18" charset="0"/>
              <a:cs typeface="Times New Roman" panose="02020603050405020304" pitchFamily="18" charset="0"/>
            </a:endParaRPr>
          </a:p>
        </p:txBody>
      </p:sp>
      <p:sp>
        <p:nvSpPr>
          <p:cNvPr id="24" name="Shape 20"/>
          <p:cNvSpPr/>
          <p:nvPr/>
        </p:nvSpPr>
        <p:spPr>
          <a:xfrm>
            <a:off x="4636008" y="2551176"/>
            <a:ext cx="50292" cy="50292"/>
          </a:xfrm>
          <a:prstGeom prst="ellipse">
            <a:avLst/>
          </a:prstGeom>
          <a:solidFill>
            <a:srgbClr val="FFFFFF"/>
          </a:solidFill>
          <a:ln/>
        </p:spPr>
      </p:sp>
      <p:sp>
        <p:nvSpPr>
          <p:cNvPr id="25" name="Text 21"/>
          <p:cNvSpPr/>
          <p:nvPr/>
        </p:nvSpPr>
        <p:spPr>
          <a:xfrm>
            <a:off x="4818888" y="242316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Security exposure</a:t>
            </a:r>
            <a:endParaRPr lang="en-US" sz="1200" dirty="0">
              <a:latin typeface="Times New Roman" panose="02020603050405020304" pitchFamily="18" charset="0"/>
              <a:cs typeface="Times New Roman" panose="02020603050405020304" pitchFamily="18" charset="0"/>
            </a:endParaRPr>
          </a:p>
        </p:txBody>
      </p:sp>
      <p:sp>
        <p:nvSpPr>
          <p:cNvPr id="26" name="Shape 22"/>
          <p:cNvSpPr/>
          <p:nvPr/>
        </p:nvSpPr>
        <p:spPr>
          <a:xfrm>
            <a:off x="4636008" y="3054096"/>
            <a:ext cx="50292" cy="50292"/>
          </a:xfrm>
          <a:prstGeom prst="ellipse">
            <a:avLst/>
          </a:prstGeom>
          <a:solidFill>
            <a:srgbClr val="FFFFFF"/>
          </a:solidFill>
          <a:ln/>
        </p:spPr>
      </p:sp>
      <p:sp>
        <p:nvSpPr>
          <p:cNvPr id="27" name="Text 23"/>
          <p:cNvSpPr/>
          <p:nvPr/>
        </p:nvSpPr>
        <p:spPr>
          <a:xfrm>
            <a:off x="4818888" y="292608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Performance overhead</a:t>
            </a:r>
            <a:endParaRPr lang="en-US" sz="1200" dirty="0">
              <a:latin typeface="Times New Roman" panose="02020603050405020304" pitchFamily="18" charset="0"/>
              <a:cs typeface="Times New Roman" panose="02020603050405020304" pitchFamily="18" charset="0"/>
            </a:endParaRPr>
          </a:p>
        </p:txBody>
      </p:sp>
      <p:sp>
        <p:nvSpPr>
          <p:cNvPr id="28" name="Shape 24"/>
          <p:cNvSpPr/>
          <p:nvPr/>
        </p:nvSpPr>
        <p:spPr>
          <a:xfrm>
            <a:off x="4636008" y="3557016"/>
            <a:ext cx="50292" cy="50292"/>
          </a:xfrm>
          <a:prstGeom prst="ellipse">
            <a:avLst/>
          </a:prstGeom>
          <a:solidFill>
            <a:srgbClr val="FFFFFF"/>
          </a:solidFill>
          <a:ln/>
        </p:spPr>
      </p:sp>
      <p:sp>
        <p:nvSpPr>
          <p:cNvPr id="29" name="Text 25"/>
          <p:cNvSpPr/>
          <p:nvPr/>
        </p:nvSpPr>
        <p:spPr>
          <a:xfrm>
            <a:off x="4818888" y="342900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Multi-vendor interoperability</a:t>
            </a:r>
            <a:endParaRPr lang="en-US" sz="1200" dirty="0">
              <a:latin typeface="Times New Roman" panose="02020603050405020304" pitchFamily="18" charset="0"/>
              <a:cs typeface="Times New Roman" panose="02020603050405020304" pitchFamily="18" charset="0"/>
            </a:endParaRPr>
          </a:p>
        </p:txBody>
      </p:sp>
      <p:sp>
        <p:nvSpPr>
          <p:cNvPr id="30" name="Shape 26"/>
          <p:cNvSpPr/>
          <p:nvPr/>
        </p:nvSpPr>
        <p:spPr>
          <a:xfrm>
            <a:off x="4636008" y="4059936"/>
            <a:ext cx="50292" cy="50292"/>
          </a:xfrm>
          <a:prstGeom prst="ellipse">
            <a:avLst/>
          </a:prstGeom>
          <a:solidFill>
            <a:srgbClr val="FFFFFF"/>
          </a:solidFill>
          <a:ln/>
        </p:spPr>
      </p:sp>
      <p:sp>
        <p:nvSpPr>
          <p:cNvPr id="31" name="Text 27"/>
          <p:cNvSpPr/>
          <p:nvPr/>
        </p:nvSpPr>
        <p:spPr>
          <a:xfrm>
            <a:off x="4818888" y="393192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Service orchestration complexity</a:t>
            </a:r>
            <a:endParaRPr lang="en-US" sz="1200" dirty="0">
              <a:latin typeface="Times New Roman" panose="02020603050405020304" pitchFamily="18" charset="0"/>
              <a:cs typeface="Times New Roman" panose="02020603050405020304" pitchFamily="18" charset="0"/>
            </a:endParaRPr>
          </a:p>
        </p:txBody>
      </p:sp>
      <p:sp>
        <p:nvSpPr>
          <p:cNvPr id="32" name="Shape 28"/>
          <p:cNvSpPr/>
          <p:nvPr/>
        </p:nvSpPr>
        <p:spPr>
          <a:xfrm>
            <a:off x="4636008" y="4562856"/>
            <a:ext cx="50292" cy="50292"/>
          </a:xfrm>
          <a:prstGeom prst="ellipse">
            <a:avLst/>
          </a:prstGeom>
          <a:solidFill>
            <a:srgbClr val="FFFFFF"/>
          </a:solidFill>
          <a:ln/>
        </p:spPr>
      </p:sp>
      <p:sp>
        <p:nvSpPr>
          <p:cNvPr id="33" name="Text 29"/>
          <p:cNvSpPr/>
          <p:nvPr/>
        </p:nvSpPr>
        <p:spPr>
          <a:xfrm>
            <a:off x="4818888" y="443484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Reliability guarantees</a:t>
            </a:r>
            <a:endParaRPr lang="en-US" sz="1200" dirty="0">
              <a:latin typeface="Times New Roman" panose="02020603050405020304" pitchFamily="18" charset="0"/>
              <a:cs typeface="Times New Roman" panose="02020603050405020304" pitchFamily="18" charset="0"/>
            </a:endParaRPr>
          </a:p>
        </p:txBody>
      </p:sp>
      <p:sp>
        <p:nvSpPr>
          <p:cNvPr id="34" name="Shape 30"/>
          <p:cNvSpPr/>
          <p:nvPr/>
        </p:nvSpPr>
        <p:spPr>
          <a:xfrm>
            <a:off x="8211312" y="1600200"/>
            <a:ext cx="3611880" cy="4709160"/>
          </a:xfrm>
          <a:prstGeom prst="roundRect">
            <a:avLst>
              <a:gd name="adj" fmla="val 1519"/>
            </a:avLst>
          </a:prstGeom>
          <a:solidFill>
            <a:srgbClr val="F2F2F2"/>
          </a:solidFill>
          <a:ln w="6350">
            <a:solidFill>
              <a:srgbClr val="D9D9D9"/>
            </a:solidFill>
            <a:prstDash val="solid"/>
          </a:ln>
        </p:spPr>
      </p:sp>
      <p:pic>
        <p:nvPicPr>
          <p:cNvPr id="35" name="Image 2" descr="icons/zap_navy.png"/>
          <p:cNvPicPr>
            <a:picLocks noChangeAspect="1"/>
          </p:cNvPicPr>
          <p:nvPr/>
        </p:nvPicPr>
        <p:blipFill>
          <a:blip r:embed="rId5"/>
          <a:stretch>
            <a:fillRect/>
          </a:stretch>
        </p:blipFill>
        <p:spPr>
          <a:xfrm>
            <a:off x="8467344" y="1856232"/>
            <a:ext cx="384048" cy="384048"/>
          </a:xfrm>
          <a:prstGeom prst="rect">
            <a:avLst/>
          </a:prstGeom>
        </p:spPr>
      </p:pic>
      <p:sp>
        <p:nvSpPr>
          <p:cNvPr id="36" name="Text 31"/>
          <p:cNvSpPr/>
          <p:nvPr/>
        </p:nvSpPr>
        <p:spPr>
          <a:xfrm>
            <a:off x="8988552" y="1856232"/>
            <a:ext cx="2606040" cy="384048"/>
          </a:xfrm>
          <a:prstGeom prst="rect">
            <a:avLst/>
          </a:prstGeom>
          <a:noFill/>
          <a:ln/>
        </p:spPr>
        <p:txBody>
          <a:bodyPr wrap="square" lIns="0" tIns="0" rIns="0" bIns="0"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Future Research</a:t>
            </a:r>
            <a:endParaRPr lang="en-US" sz="1500" dirty="0">
              <a:latin typeface="Times New Roman" panose="02020603050405020304" pitchFamily="18" charset="0"/>
              <a:cs typeface="Times New Roman" panose="02020603050405020304" pitchFamily="18" charset="0"/>
            </a:endParaRPr>
          </a:p>
        </p:txBody>
      </p:sp>
      <p:sp>
        <p:nvSpPr>
          <p:cNvPr id="37" name="Shape 32"/>
          <p:cNvSpPr/>
          <p:nvPr/>
        </p:nvSpPr>
        <p:spPr>
          <a:xfrm>
            <a:off x="8467344" y="2551176"/>
            <a:ext cx="50292" cy="50292"/>
          </a:xfrm>
          <a:prstGeom prst="ellipse">
            <a:avLst/>
          </a:prstGeom>
          <a:solidFill>
            <a:srgbClr val="1E2761"/>
          </a:solidFill>
          <a:ln/>
        </p:spPr>
      </p:sp>
      <p:sp>
        <p:nvSpPr>
          <p:cNvPr id="38" name="Text 33"/>
          <p:cNvSpPr/>
          <p:nvPr/>
        </p:nvSpPr>
        <p:spPr>
          <a:xfrm>
            <a:off x="8650224" y="242316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AI-driven NFV orchestration</a:t>
            </a:r>
            <a:endParaRPr lang="en-US" sz="1200" dirty="0">
              <a:latin typeface="Times New Roman" panose="02020603050405020304" pitchFamily="18" charset="0"/>
              <a:cs typeface="Times New Roman" panose="02020603050405020304" pitchFamily="18" charset="0"/>
            </a:endParaRPr>
          </a:p>
        </p:txBody>
      </p:sp>
      <p:sp>
        <p:nvSpPr>
          <p:cNvPr id="39" name="Shape 34"/>
          <p:cNvSpPr/>
          <p:nvPr/>
        </p:nvSpPr>
        <p:spPr>
          <a:xfrm>
            <a:off x="8467344" y="3054096"/>
            <a:ext cx="50292" cy="50292"/>
          </a:xfrm>
          <a:prstGeom prst="ellipse">
            <a:avLst/>
          </a:prstGeom>
          <a:solidFill>
            <a:srgbClr val="1E2761"/>
          </a:solidFill>
          <a:ln/>
        </p:spPr>
      </p:sp>
      <p:sp>
        <p:nvSpPr>
          <p:cNvPr id="40" name="Text 35"/>
          <p:cNvSpPr/>
          <p:nvPr/>
        </p:nvSpPr>
        <p:spPr>
          <a:xfrm>
            <a:off x="8650224" y="292608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Cloud-native Network Functions (CNFs)</a:t>
            </a:r>
            <a:endParaRPr lang="en-US" sz="1200" dirty="0">
              <a:latin typeface="Times New Roman" panose="02020603050405020304" pitchFamily="18" charset="0"/>
              <a:cs typeface="Times New Roman" panose="02020603050405020304" pitchFamily="18" charset="0"/>
            </a:endParaRPr>
          </a:p>
        </p:txBody>
      </p:sp>
      <p:sp>
        <p:nvSpPr>
          <p:cNvPr id="41" name="Shape 36"/>
          <p:cNvSpPr/>
          <p:nvPr/>
        </p:nvSpPr>
        <p:spPr>
          <a:xfrm>
            <a:off x="8467344" y="3557016"/>
            <a:ext cx="50292" cy="50292"/>
          </a:xfrm>
          <a:prstGeom prst="ellipse">
            <a:avLst/>
          </a:prstGeom>
          <a:solidFill>
            <a:srgbClr val="1E2761"/>
          </a:solidFill>
          <a:ln/>
        </p:spPr>
      </p:sp>
      <p:sp>
        <p:nvSpPr>
          <p:cNvPr id="42" name="Text 37"/>
          <p:cNvSpPr/>
          <p:nvPr/>
        </p:nvSpPr>
        <p:spPr>
          <a:xfrm>
            <a:off x="8650224" y="342900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Kubernetes-based deployment</a:t>
            </a:r>
            <a:endParaRPr lang="en-US" sz="1200" dirty="0">
              <a:latin typeface="Times New Roman" panose="02020603050405020304" pitchFamily="18" charset="0"/>
              <a:cs typeface="Times New Roman" panose="02020603050405020304" pitchFamily="18" charset="0"/>
            </a:endParaRPr>
          </a:p>
        </p:txBody>
      </p:sp>
      <p:sp>
        <p:nvSpPr>
          <p:cNvPr id="43" name="Shape 38"/>
          <p:cNvSpPr/>
          <p:nvPr/>
        </p:nvSpPr>
        <p:spPr>
          <a:xfrm>
            <a:off x="8467344" y="4059936"/>
            <a:ext cx="50292" cy="50292"/>
          </a:xfrm>
          <a:prstGeom prst="ellipse">
            <a:avLst/>
          </a:prstGeom>
          <a:solidFill>
            <a:srgbClr val="1E2761"/>
          </a:solidFill>
          <a:ln/>
        </p:spPr>
      </p:sp>
      <p:sp>
        <p:nvSpPr>
          <p:cNvPr id="44" name="Text 39"/>
          <p:cNvSpPr/>
          <p:nvPr/>
        </p:nvSpPr>
        <p:spPr>
          <a:xfrm>
            <a:off x="8650224" y="393192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6G networking</a:t>
            </a:r>
            <a:endParaRPr lang="en-US" sz="1200" dirty="0">
              <a:latin typeface="Times New Roman" panose="02020603050405020304" pitchFamily="18" charset="0"/>
              <a:cs typeface="Times New Roman" panose="02020603050405020304" pitchFamily="18" charset="0"/>
            </a:endParaRPr>
          </a:p>
        </p:txBody>
      </p:sp>
      <p:sp>
        <p:nvSpPr>
          <p:cNvPr id="45" name="Shape 40"/>
          <p:cNvSpPr/>
          <p:nvPr/>
        </p:nvSpPr>
        <p:spPr>
          <a:xfrm>
            <a:off x="8467344" y="4562856"/>
            <a:ext cx="50292" cy="50292"/>
          </a:xfrm>
          <a:prstGeom prst="ellipse">
            <a:avLst/>
          </a:prstGeom>
          <a:solidFill>
            <a:srgbClr val="1E2761"/>
          </a:solidFill>
          <a:ln/>
        </p:spPr>
      </p:sp>
      <p:sp>
        <p:nvSpPr>
          <p:cNvPr id="46" name="Text 41"/>
          <p:cNvSpPr/>
          <p:nvPr/>
        </p:nvSpPr>
        <p:spPr>
          <a:xfrm>
            <a:off x="8650224" y="443484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Zero-Touch Network Management</a:t>
            </a:r>
            <a:endParaRPr lang="en-US" sz="1200" dirty="0">
              <a:latin typeface="Times New Roman" panose="02020603050405020304" pitchFamily="18" charset="0"/>
              <a:cs typeface="Times New Roman" panose="02020603050405020304" pitchFamily="18" charset="0"/>
            </a:endParaRPr>
          </a:p>
        </p:txBody>
      </p:sp>
      <p:sp>
        <p:nvSpPr>
          <p:cNvPr id="47" name="Shape 42"/>
          <p:cNvSpPr/>
          <p:nvPr/>
        </p:nvSpPr>
        <p:spPr>
          <a:xfrm>
            <a:off x="8467344" y="5065776"/>
            <a:ext cx="50292" cy="50292"/>
          </a:xfrm>
          <a:prstGeom prst="ellipse">
            <a:avLst/>
          </a:prstGeom>
          <a:solidFill>
            <a:srgbClr val="1E2761"/>
          </a:solidFill>
          <a:ln/>
        </p:spPr>
      </p:sp>
      <p:sp>
        <p:nvSpPr>
          <p:cNvPr id="48" name="Text 43"/>
          <p:cNvSpPr/>
          <p:nvPr/>
        </p:nvSpPr>
        <p:spPr>
          <a:xfrm>
            <a:off x="8650224" y="4937760"/>
            <a:ext cx="2916936" cy="457200"/>
          </a:xfrm>
          <a:prstGeom prst="rect">
            <a:avLst/>
          </a:prstGeom>
          <a:noFill/>
          <a:ln/>
        </p:spPr>
        <p:txBody>
          <a:bodyPr wrap="square" lIns="0" tIns="0" rIns="0" bIns="0" rtlCol="0" anchor="ctr"/>
          <a:lstStyle/>
          <a:p>
            <a:pPr marL="0" indent="0">
              <a:lnSpc>
                <a:spcPct val="108000"/>
              </a:lnSpc>
              <a:buNone/>
            </a:pPr>
            <a:r>
              <a:rPr lang="en-US" sz="1200" dirty="0">
                <a:solidFill>
                  <a:srgbClr val="1A1A1A"/>
                </a:solidFill>
                <a:latin typeface="Times New Roman" panose="02020603050405020304" pitchFamily="18" charset="0"/>
                <a:ea typeface="Calibri" pitchFamily="34" charset="-122"/>
                <a:cs typeface="Times New Roman" panose="02020603050405020304" pitchFamily="18" charset="0"/>
              </a:rPr>
              <a:t>Digital Twin Networks</a:t>
            </a:r>
            <a:endParaRPr lang="en-US" sz="1200" dirty="0">
              <a:latin typeface="Times New Roman" panose="02020603050405020304" pitchFamily="18" charset="0"/>
              <a:cs typeface="Times New Roman" panose="02020603050405020304" pitchFamily="18" charset="0"/>
            </a:endParaRPr>
          </a:p>
        </p:txBody>
      </p:sp>
      <p:sp>
        <p:nvSpPr>
          <p:cNvPr id="50" name="Text 45"/>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Times New Roman" panose="02020603050405020304" pitchFamily="18" charset="0"/>
                <a:ea typeface="Calibri" pitchFamily="34" charset="-122"/>
                <a:cs typeface="Times New Roman" panose="02020603050405020304" pitchFamily="18" charset="0"/>
              </a:rPr>
              <a:t>4</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1600200" y="408973"/>
            <a:ext cx="9144000" cy="274320"/>
          </a:xfrm>
          <a:prstGeom prst="rect">
            <a:avLst/>
          </a:prstGeom>
          <a:noFill/>
          <a:ln/>
        </p:spPr>
        <p:txBody>
          <a:bodyPr wrap="square" lIns="0" tIns="0" rIns="0" bIns="0" rtlCol="0" anchor="ctr"/>
          <a:lstStyle/>
          <a:p>
            <a:pPr marL="0" indent="0" algn="ctr">
              <a:buNone/>
            </a:pPr>
            <a:r>
              <a:rPr lang="en-US" sz="2400" b="1" kern="0" spc="200" dirty="0">
                <a:solidFill>
                  <a:srgbClr val="CADCFC"/>
                </a:solidFill>
                <a:latin typeface="Times New Roman" panose="02020603050405020304" pitchFamily="18" charset="0"/>
                <a:ea typeface="Calibri" pitchFamily="34" charset="-122"/>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p:txBody>
      </p:sp>
      <p:sp>
        <p:nvSpPr>
          <p:cNvPr id="3" name="Text 1"/>
          <p:cNvSpPr/>
          <p:nvPr/>
        </p:nvSpPr>
        <p:spPr>
          <a:xfrm>
            <a:off x="548640" y="1158781"/>
            <a:ext cx="10972800" cy="640080"/>
          </a:xfrm>
          <a:prstGeom prst="rect">
            <a:avLst/>
          </a:prstGeom>
          <a:noFill/>
          <a:ln/>
        </p:spPr>
        <p:txBody>
          <a:bodyPr wrap="square" lIns="0" tIns="0" rIns="0" bIns="0" rtlCol="0" anchor="ctr"/>
          <a:lstStyle/>
          <a:p>
            <a:pPr marL="0" indent="0">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NFV Is Redefining the Network Architecture Stack</a:t>
            </a:r>
            <a:endParaRPr lang="en-US" sz="2600" dirty="0">
              <a:latin typeface="Times New Roman" panose="02020603050405020304" pitchFamily="18" charset="0"/>
              <a:cs typeface="Times New Roman" panose="02020603050405020304" pitchFamily="18" charset="0"/>
            </a:endParaRPr>
          </a:p>
        </p:txBody>
      </p:sp>
      <p:sp>
        <p:nvSpPr>
          <p:cNvPr id="6" name="Text 3"/>
          <p:cNvSpPr/>
          <p:nvPr/>
        </p:nvSpPr>
        <p:spPr>
          <a:xfrm>
            <a:off x="1188720" y="2181508"/>
            <a:ext cx="9966960" cy="548640"/>
          </a:xfrm>
          <a:prstGeom prst="rect">
            <a:avLst/>
          </a:prstGeom>
          <a:noFill/>
          <a:ln/>
        </p:spPr>
        <p:txBody>
          <a:bodyPr wrap="square" lIns="0" tIns="0" rIns="0" bIns="0" rtlCol="0" anchor="ctr"/>
          <a:lstStyle/>
          <a:p>
            <a:pPr marL="285750" indent="-285750">
              <a:lnSpc>
                <a:spcPct val="115000"/>
              </a:lnSpc>
              <a:buFont typeface="Wingdings" panose="05000000000000000000" pitchFamily="2" charset="2"/>
              <a:buChar char="Ø"/>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NFV re-implements OSI-layer network functions in software, from application-aware services down to physical infrastructure abstraction.</a:t>
            </a:r>
            <a:endParaRPr lang="en-US" sz="1600" dirty="0">
              <a:latin typeface="Times New Roman" panose="02020603050405020304" pitchFamily="18" charset="0"/>
              <a:cs typeface="Times New Roman" panose="02020603050405020304" pitchFamily="18" charset="0"/>
            </a:endParaRPr>
          </a:p>
        </p:txBody>
      </p:sp>
      <p:sp>
        <p:nvSpPr>
          <p:cNvPr id="9" name="Text 5"/>
          <p:cNvSpPr/>
          <p:nvPr/>
        </p:nvSpPr>
        <p:spPr>
          <a:xfrm>
            <a:off x="1188720" y="3154680"/>
            <a:ext cx="9966960" cy="548640"/>
          </a:xfrm>
          <a:prstGeom prst="rect">
            <a:avLst/>
          </a:prstGeom>
          <a:noFill/>
          <a:ln/>
        </p:spPr>
        <p:txBody>
          <a:bodyPr wrap="square" lIns="0" tIns="0" rIns="0" bIns="0" rtlCol="0" anchor="ctr"/>
          <a:lstStyle/>
          <a:p>
            <a:pPr marL="285750" indent="-285750">
              <a:lnSpc>
                <a:spcPct val="115000"/>
              </a:lnSpc>
              <a:buFont typeface="Wingdings" panose="05000000000000000000" pitchFamily="2" charset="2"/>
              <a:buChar char="Ø"/>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It underpins cloud computing, 5G core networks, and edge computing, and will extend into 6G as networks demand greater elasticity.</a:t>
            </a:r>
            <a:endParaRPr lang="en-US" sz="1600" dirty="0">
              <a:latin typeface="Times New Roman" panose="02020603050405020304" pitchFamily="18" charset="0"/>
              <a:cs typeface="Times New Roman" panose="02020603050405020304" pitchFamily="18" charset="0"/>
            </a:endParaRPr>
          </a:p>
        </p:txBody>
      </p:sp>
      <p:sp>
        <p:nvSpPr>
          <p:cNvPr id="12" name="Text 7"/>
          <p:cNvSpPr/>
          <p:nvPr/>
        </p:nvSpPr>
        <p:spPr>
          <a:xfrm>
            <a:off x="1188720" y="4178808"/>
            <a:ext cx="9966960" cy="548640"/>
          </a:xfrm>
          <a:prstGeom prst="rect">
            <a:avLst/>
          </a:prstGeom>
          <a:noFill/>
          <a:ln/>
        </p:spPr>
        <p:txBody>
          <a:bodyPr wrap="square" lIns="0" tIns="0" rIns="0" bIns="0" rtlCol="0" anchor="ctr"/>
          <a:lstStyle/>
          <a:p>
            <a:pPr marL="285750" indent="-285750">
              <a:lnSpc>
                <a:spcPct val="115000"/>
              </a:lnSpc>
              <a:buFont typeface="Wingdings" panose="05000000000000000000" pitchFamily="2" charset="2"/>
              <a:buChar char="Ø"/>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Combined with AI-driven orchestration and zero-touch management, NFV is a foundational step toward autonomous, self-optimizing networks.</a:t>
            </a:r>
            <a:endParaRPr lang="en-US" sz="1600" dirty="0">
              <a:latin typeface="Times New Roman" panose="02020603050405020304" pitchFamily="18" charset="0"/>
              <a:cs typeface="Times New Roman" panose="02020603050405020304" pitchFamily="18" charset="0"/>
            </a:endParaRPr>
          </a:p>
        </p:txBody>
      </p:sp>
      <p:sp>
        <p:nvSpPr>
          <p:cNvPr id="16" name="Text 1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A9B3D6"/>
                </a:solidFill>
                <a:latin typeface="Times New Roman" panose="02020603050405020304" pitchFamily="18" charset="0"/>
                <a:ea typeface="Calibri" pitchFamily="34" charset="-122"/>
                <a:cs typeface="Times New Roman" panose="02020603050405020304" pitchFamily="18" charset="0"/>
              </a:rPr>
              <a:t>5</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0AB806E-6F6D-CB96-624D-067A5EB213FE}"/>
              </a:ext>
            </a:extLst>
          </p:cNvPr>
          <p:cNvPicPr>
            <a:picLocks noGrp="1" noChangeAspect="1"/>
          </p:cNvPicPr>
          <p:nvPr>
            <p:ph idx="1"/>
          </p:nvPr>
        </p:nvPicPr>
        <p:blipFill>
          <a:blip r:embed="rId2"/>
          <a:stretch>
            <a:fillRect/>
          </a:stretch>
        </p:blipFill>
        <p:spPr>
          <a:xfrm>
            <a:off x="0" y="0"/>
            <a:ext cx="12191999" cy="68580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B1785A-201B-E5DE-CF53-B84AFE781E3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51410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57</TotalTime>
  <Words>806</Words>
  <Application>Microsoft Office PowerPoint</Application>
  <PresentationFormat>Widescreen</PresentationFormat>
  <Paragraphs>102</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dilip kumar</cp:lastModifiedBy>
  <cp:revision>6</cp:revision>
  <dcterms:created xsi:type="dcterms:W3CDTF">2026-07-21T05:54:21Z</dcterms:created>
  <dcterms:modified xsi:type="dcterms:W3CDTF">2026-07-30T03:23:09Z</dcterms:modified>
</cp:coreProperties>
</file>